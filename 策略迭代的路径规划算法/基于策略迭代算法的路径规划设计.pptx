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39"/>
  </p:handoutMasterIdLst>
  <p:sldIdLst>
    <p:sldId id="726" r:id="rId3"/>
    <p:sldId id="750" r:id="rId5"/>
    <p:sldId id="751" r:id="rId6"/>
    <p:sldId id="739" r:id="rId7"/>
    <p:sldId id="752" r:id="rId8"/>
    <p:sldId id="728" r:id="rId9"/>
    <p:sldId id="741" r:id="rId10"/>
    <p:sldId id="811" r:id="rId11"/>
    <p:sldId id="780" r:id="rId12"/>
    <p:sldId id="781" r:id="rId13"/>
    <p:sldId id="782" r:id="rId14"/>
    <p:sldId id="812" r:id="rId15"/>
    <p:sldId id="783" r:id="rId16"/>
    <p:sldId id="753" r:id="rId17"/>
    <p:sldId id="813" r:id="rId18"/>
    <p:sldId id="814" r:id="rId19"/>
    <p:sldId id="795" r:id="rId20"/>
    <p:sldId id="754" r:id="rId21"/>
    <p:sldId id="743" r:id="rId22"/>
    <p:sldId id="794" r:id="rId23"/>
    <p:sldId id="815" r:id="rId24"/>
    <p:sldId id="816" r:id="rId25"/>
    <p:sldId id="746" r:id="rId26"/>
    <p:sldId id="801" r:id="rId27"/>
    <p:sldId id="802" r:id="rId28"/>
    <p:sldId id="797" r:id="rId29"/>
    <p:sldId id="803" r:id="rId30"/>
    <p:sldId id="798" r:id="rId31"/>
    <p:sldId id="799" r:id="rId32"/>
    <p:sldId id="804" r:id="rId33"/>
    <p:sldId id="817" r:id="rId34"/>
    <p:sldId id="818" r:id="rId35"/>
    <p:sldId id="800" r:id="rId36"/>
    <p:sldId id="805" r:id="rId37"/>
    <p:sldId id="755" r:id="rId38"/>
  </p:sldIdLst>
  <p:sldSz cx="9144000" cy="5143500" type="screen16x9"/>
  <p:notesSz cx="6858000" cy="9144000"/>
  <p:embeddedFontLst>
    <p:embeddedFont>
      <p:font typeface="微软雅黑" panose="020B0503020204020204" pitchFamily="34" charset="-122"/>
      <p:regular r:id="rId43"/>
    </p:embeddedFont>
    <p:embeddedFont>
      <p:font typeface="黑体" panose="02010609060101010101" pitchFamily="49" charset="-122"/>
      <p:regular r:id="rId44"/>
    </p:embeddedFont>
    <p:embeddedFont>
      <p:font typeface="汉仪雅酷黑 65W" panose="020B0604020202020204" charset="-122"/>
      <p:regular r:id="rId45"/>
    </p:embeddedFont>
  </p:embeddedFontLst>
  <p:custDataLst>
    <p:tags r:id="rId4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44" userDrawn="1">
          <p15:clr>
            <a:srgbClr val="A4A3A4"/>
          </p15:clr>
        </p15:guide>
        <p15:guide id="2" pos="5695" userDrawn="1">
          <p15:clr>
            <a:srgbClr val="A4A3A4"/>
          </p15:clr>
        </p15:guide>
        <p15:guide id="3" orient="horz" pos="2606" userDrawn="1">
          <p15:clr>
            <a:srgbClr val="A4A3A4"/>
          </p15:clr>
        </p15:guide>
        <p15:guide id="4" orient="horz" pos="29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2F2F2"/>
    <a:srgbClr val="1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590" y="82"/>
      </p:cViewPr>
      <p:guideLst>
        <p:guide pos="144"/>
        <p:guide pos="5695"/>
        <p:guide orient="horz" pos="2606"/>
        <p:guide orient="horz" pos="29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gs" Target="tags/tag89.xml"/><Relationship Id="rId45" Type="http://schemas.openxmlformats.org/officeDocument/2006/relationships/font" Target="fonts/font3.fntdata"/><Relationship Id="rId44" Type="http://schemas.openxmlformats.org/officeDocument/2006/relationships/font" Target="fonts/font2.fntdata"/><Relationship Id="rId43" Type="http://schemas.openxmlformats.org/officeDocument/2006/relationships/font" Target="fonts/font1.fntdata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.wmf"/><Relationship Id="rId8" Type="http://schemas.openxmlformats.org/officeDocument/2006/relationships/image" Target="../media/image21.wmf"/><Relationship Id="rId7" Type="http://schemas.openxmlformats.org/officeDocument/2006/relationships/image" Target="../media/image20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BFDA73F-FE32-4C7A-A1A9-99044E5C583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CA37734-671B-4C54-8EE0-CE0853A953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-2998"/>
            <a:ext cx="228600" cy="5551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>
            <a:spLocks noChangeArrowheads="1"/>
          </p:cNvSpPr>
          <p:nvPr userDrawn="1"/>
        </p:nvSpPr>
        <p:spPr bwMode="auto">
          <a:xfrm flipH="1">
            <a:off x="0" y="4826000"/>
            <a:ext cx="9143999" cy="326209"/>
          </a:xfrm>
          <a:custGeom>
            <a:avLst/>
            <a:gdLst>
              <a:gd name="connsiteX0" fmla="*/ 943887 w 9143999"/>
              <a:gd name="connsiteY0" fmla="*/ 0 h 326209"/>
              <a:gd name="connsiteX1" fmla="*/ 0 w 9143999"/>
              <a:gd name="connsiteY1" fmla="*/ 0 h 326209"/>
              <a:gd name="connsiteX2" fmla="*/ 0 w 9143999"/>
              <a:gd name="connsiteY2" fmla="*/ 291207 h 326209"/>
              <a:gd name="connsiteX3" fmla="*/ 0 w 9143999"/>
              <a:gd name="connsiteY3" fmla="*/ 317501 h 326209"/>
              <a:gd name="connsiteX4" fmla="*/ 2871259 w 9143999"/>
              <a:gd name="connsiteY4" fmla="*/ 317501 h 326209"/>
              <a:gd name="connsiteX5" fmla="*/ 2871259 w 9143999"/>
              <a:gd name="connsiteY5" fmla="*/ 326209 h 326209"/>
              <a:gd name="connsiteX6" fmla="*/ 4710450 w 9143999"/>
              <a:gd name="connsiteY6" fmla="*/ 326209 h 326209"/>
              <a:gd name="connsiteX7" fmla="*/ 4914039 w 9143999"/>
              <a:gd name="connsiteY7" fmla="*/ 326209 h 326209"/>
              <a:gd name="connsiteX8" fmla="*/ 6736677 w 9143999"/>
              <a:gd name="connsiteY8" fmla="*/ 326209 h 326209"/>
              <a:gd name="connsiteX9" fmla="*/ 6753230 w 9143999"/>
              <a:gd name="connsiteY9" fmla="*/ 326209 h 326209"/>
              <a:gd name="connsiteX10" fmla="*/ 7101218 w 9143999"/>
              <a:gd name="connsiteY10" fmla="*/ 326209 h 326209"/>
              <a:gd name="connsiteX11" fmla="*/ 8779457 w 9143999"/>
              <a:gd name="connsiteY11" fmla="*/ 326209 h 326209"/>
              <a:gd name="connsiteX12" fmla="*/ 9143999 w 9143999"/>
              <a:gd name="connsiteY12" fmla="*/ 326209 h 326209"/>
              <a:gd name="connsiteX13" fmla="*/ 9143999 w 9143999"/>
              <a:gd name="connsiteY13" fmla="*/ 176677 h 326209"/>
              <a:gd name="connsiteX14" fmla="*/ 8779457 w 9143999"/>
              <a:gd name="connsiteY14" fmla="*/ 176677 h 326209"/>
              <a:gd name="connsiteX15" fmla="*/ 7101218 w 9143999"/>
              <a:gd name="connsiteY15" fmla="*/ 176677 h 326209"/>
              <a:gd name="connsiteX16" fmla="*/ 6753230 w 9143999"/>
              <a:gd name="connsiteY16" fmla="*/ 176677 h 326209"/>
              <a:gd name="connsiteX17" fmla="*/ 6736677 w 9143999"/>
              <a:gd name="connsiteY17" fmla="*/ 176677 h 326209"/>
              <a:gd name="connsiteX18" fmla="*/ 4914039 w 9143999"/>
              <a:gd name="connsiteY18" fmla="*/ 176677 h 326209"/>
              <a:gd name="connsiteX19" fmla="*/ 4710450 w 9143999"/>
              <a:gd name="connsiteY19" fmla="*/ 176677 h 326209"/>
              <a:gd name="connsiteX20" fmla="*/ 2887812 w 9143999"/>
              <a:gd name="connsiteY20" fmla="*/ 176677 h 326209"/>
              <a:gd name="connsiteX21" fmla="*/ 2887812 w 9143999"/>
              <a:gd name="connsiteY21" fmla="*/ 176591 h 326209"/>
              <a:gd name="connsiteX22" fmla="*/ 1238015 w 9143999"/>
              <a:gd name="connsiteY22" fmla="*/ 176591 h 326209"/>
              <a:gd name="connsiteX23" fmla="*/ 943887 w 9143999"/>
              <a:gd name="connsiteY23" fmla="*/ 0 h 326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43999" h="326209">
                <a:moveTo>
                  <a:pt x="943887" y="0"/>
                </a:moveTo>
                <a:cubicBezTo>
                  <a:pt x="486650" y="0"/>
                  <a:pt x="48130" y="0"/>
                  <a:pt x="0" y="0"/>
                </a:cubicBezTo>
                <a:cubicBezTo>
                  <a:pt x="0" y="0"/>
                  <a:pt x="0" y="0"/>
                  <a:pt x="0" y="291207"/>
                </a:cubicBezTo>
                <a:lnTo>
                  <a:pt x="0" y="317501"/>
                </a:lnTo>
                <a:lnTo>
                  <a:pt x="2871259" y="317501"/>
                </a:lnTo>
                <a:lnTo>
                  <a:pt x="2871259" y="326209"/>
                </a:lnTo>
                <a:lnTo>
                  <a:pt x="4710450" y="326209"/>
                </a:lnTo>
                <a:lnTo>
                  <a:pt x="4914039" y="326209"/>
                </a:lnTo>
                <a:lnTo>
                  <a:pt x="6736677" y="326209"/>
                </a:lnTo>
                <a:lnTo>
                  <a:pt x="6753230" y="326209"/>
                </a:lnTo>
                <a:lnTo>
                  <a:pt x="7101218" y="326209"/>
                </a:lnTo>
                <a:lnTo>
                  <a:pt x="8779457" y="326209"/>
                </a:lnTo>
                <a:lnTo>
                  <a:pt x="9143999" y="326209"/>
                </a:lnTo>
                <a:lnTo>
                  <a:pt x="9143999" y="176677"/>
                </a:lnTo>
                <a:lnTo>
                  <a:pt x="8779457" y="176677"/>
                </a:lnTo>
                <a:lnTo>
                  <a:pt x="7101218" y="176677"/>
                </a:lnTo>
                <a:lnTo>
                  <a:pt x="6753230" y="176677"/>
                </a:lnTo>
                <a:lnTo>
                  <a:pt x="6736677" y="176677"/>
                </a:lnTo>
                <a:lnTo>
                  <a:pt x="4914039" y="176677"/>
                </a:lnTo>
                <a:lnTo>
                  <a:pt x="4710450" y="176677"/>
                </a:lnTo>
                <a:lnTo>
                  <a:pt x="2887812" y="176677"/>
                </a:lnTo>
                <a:lnTo>
                  <a:pt x="2887812" y="176591"/>
                </a:lnTo>
                <a:cubicBezTo>
                  <a:pt x="2887812" y="176591"/>
                  <a:pt x="1339624" y="176591"/>
                  <a:pt x="1238015" y="176591"/>
                </a:cubicBezTo>
                <a:cubicBezTo>
                  <a:pt x="1098973" y="176591"/>
                  <a:pt x="1139081" y="0"/>
                  <a:pt x="94388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341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228600" y="938144"/>
            <a:ext cx="4343400" cy="2023677"/>
          </a:xfr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4572000" y="937846"/>
            <a:ext cx="4343400" cy="20241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>
            <a:spLocks noChangeArrowheads="1"/>
          </p:cNvSpPr>
          <p:nvPr userDrawn="1"/>
        </p:nvSpPr>
        <p:spPr bwMode="auto">
          <a:xfrm flipH="1">
            <a:off x="0" y="4826000"/>
            <a:ext cx="9143999" cy="326209"/>
          </a:xfrm>
          <a:custGeom>
            <a:avLst/>
            <a:gdLst>
              <a:gd name="connsiteX0" fmla="*/ 943887 w 9143999"/>
              <a:gd name="connsiteY0" fmla="*/ 0 h 326209"/>
              <a:gd name="connsiteX1" fmla="*/ 0 w 9143999"/>
              <a:gd name="connsiteY1" fmla="*/ 0 h 326209"/>
              <a:gd name="connsiteX2" fmla="*/ 0 w 9143999"/>
              <a:gd name="connsiteY2" fmla="*/ 291207 h 326209"/>
              <a:gd name="connsiteX3" fmla="*/ 0 w 9143999"/>
              <a:gd name="connsiteY3" fmla="*/ 317501 h 326209"/>
              <a:gd name="connsiteX4" fmla="*/ 2871259 w 9143999"/>
              <a:gd name="connsiteY4" fmla="*/ 317501 h 326209"/>
              <a:gd name="connsiteX5" fmla="*/ 2871259 w 9143999"/>
              <a:gd name="connsiteY5" fmla="*/ 326209 h 326209"/>
              <a:gd name="connsiteX6" fmla="*/ 4710450 w 9143999"/>
              <a:gd name="connsiteY6" fmla="*/ 326209 h 326209"/>
              <a:gd name="connsiteX7" fmla="*/ 4914039 w 9143999"/>
              <a:gd name="connsiteY7" fmla="*/ 326209 h 326209"/>
              <a:gd name="connsiteX8" fmla="*/ 6736677 w 9143999"/>
              <a:gd name="connsiteY8" fmla="*/ 326209 h 326209"/>
              <a:gd name="connsiteX9" fmla="*/ 6753230 w 9143999"/>
              <a:gd name="connsiteY9" fmla="*/ 326209 h 326209"/>
              <a:gd name="connsiteX10" fmla="*/ 7101218 w 9143999"/>
              <a:gd name="connsiteY10" fmla="*/ 326209 h 326209"/>
              <a:gd name="connsiteX11" fmla="*/ 8779457 w 9143999"/>
              <a:gd name="connsiteY11" fmla="*/ 326209 h 326209"/>
              <a:gd name="connsiteX12" fmla="*/ 9143999 w 9143999"/>
              <a:gd name="connsiteY12" fmla="*/ 326209 h 326209"/>
              <a:gd name="connsiteX13" fmla="*/ 9143999 w 9143999"/>
              <a:gd name="connsiteY13" fmla="*/ 176677 h 326209"/>
              <a:gd name="connsiteX14" fmla="*/ 8779457 w 9143999"/>
              <a:gd name="connsiteY14" fmla="*/ 176677 h 326209"/>
              <a:gd name="connsiteX15" fmla="*/ 7101218 w 9143999"/>
              <a:gd name="connsiteY15" fmla="*/ 176677 h 326209"/>
              <a:gd name="connsiteX16" fmla="*/ 6753230 w 9143999"/>
              <a:gd name="connsiteY16" fmla="*/ 176677 h 326209"/>
              <a:gd name="connsiteX17" fmla="*/ 6736677 w 9143999"/>
              <a:gd name="connsiteY17" fmla="*/ 176677 h 326209"/>
              <a:gd name="connsiteX18" fmla="*/ 4914039 w 9143999"/>
              <a:gd name="connsiteY18" fmla="*/ 176677 h 326209"/>
              <a:gd name="connsiteX19" fmla="*/ 4710450 w 9143999"/>
              <a:gd name="connsiteY19" fmla="*/ 176677 h 326209"/>
              <a:gd name="connsiteX20" fmla="*/ 2887812 w 9143999"/>
              <a:gd name="connsiteY20" fmla="*/ 176677 h 326209"/>
              <a:gd name="connsiteX21" fmla="*/ 2887812 w 9143999"/>
              <a:gd name="connsiteY21" fmla="*/ 176591 h 326209"/>
              <a:gd name="connsiteX22" fmla="*/ 1238015 w 9143999"/>
              <a:gd name="connsiteY22" fmla="*/ 176591 h 326209"/>
              <a:gd name="connsiteX23" fmla="*/ 943887 w 9143999"/>
              <a:gd name="connsiteY23" fmla="*/ 0 h 326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43999" h="326209">
                <a:moveTo>
                  <a:pt x="943887" y="0"/>
                </a:moveTo>
                <a:cubicBezTo>
                  <a:pt x="486650" y="0"/>
                  <a:pt x="48130" y="0"/>
                  <a:pt x="0" y="0"/>
                </a:cubicBezTo>
                <a:cubicBezTo>
                  <a:pt x="0" y="0"/>
                  <a:pt x="0" y="0"/>
                  <a:pt x="0" y="291207"/>
                </a:cubicBezTo>
                <a:lnTo>
                  <a:pt x="0" y="317501"/>
                </a:lnTo>
                <a:lnTo>
                  <a:pt x="2871259" y="317501"/>
                </a:lnTo>
                <a:lnTo>
                  <a:pt x="2871259" y="326209"/>
                </a:lnTo>
                <a:lnTo>
                  <a:pt x="4710450" y="326209"/>
                </a:lnTo>
                <a:lnTo>
                  <a:pt x="4914039" y="326209"/>
                </a:lnTo>
                <a:lnTo>
                  <a:pt x="6736677" y="326209"/>
                </a:lnTo>
                <a:lnTo>
                  <a:pt x="6753230" y="326209"/>
                </a:lnTo>
                <a:lnTo>
                  <a:pt x="7101218" y="326209"/>
                </a:lnTo>
                <a:lnTo>
                  <a:pt x="8779457" y="326209"/>
                </a:lnTo>
                <a:lnTo>
                  <a:pt x="9143999" y="326209"/>
                </a:lnTo>
                <a:lnTo>
                  <a:pt x="9143999" y="176677"/>
                </a:lnTo>
                <a:lnTo>
                  <a:pt x="8779457" y="176677"/>
                </a:lnTo>
                <a:lnTo>
                  <a:pt x="7101218" y="176677"/>
                </a:lnTo>
                <a:lnTo>
                  <a:pt x="6753230" y="176677"/>
                </a:lnTo>
                <a:lnTo>
                  <a:pt x="6736677" y="176677"/>
                </a:lnTo>
                <a:lnTo>
                  <a:pt x="4914039" y="176677"/>
                </a:lnTo>
                <a:lnTo>
                  <a:pt x="4710450" y="176677"/>
                </a:lnTo>
                <a:lnTo>
                  <a:pt x="2887812" y="176677"/>
                </a:lnTo>
                <a:lnTo>
                  <a:pt x="2887812" y="176591"/>
                </a:lnTo>
                <a:cubicBezTo>
                  <a:pt x="2887812" y="176591"/>
                  <a:pt x="1339624" y="176591"/>
                  <a:pt x="1238015" y="176591"/>
                </a:cubicBezTo>
                <a:cubicBezTo>
                  <a:pt x="1098973" y="176591"/>
                  <a:pt x="1139081" y="0"/>
                  <a:pt x="94388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341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2998"/>
            <a:ext cx="228600" cy="5551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470C570-A52E-4C32-9428-41DD52C2B1B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jpeg"/><Relationship Id="rId3" Type="http://schemas.openxmlformats.org/officeDocument/2006/relationships/tags" Target="../tags/tag5.xml"/><Relationship Id="rId2" Type="http://schemas.openxmlformats.org/officeDocument/2006/relationships/image" Target="../media/image2.png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10" Type="http://schemas.openxmlformats.org/officeDocument/2006/relationships/vmlDrawing" Target="../drawings/vmlDrawing1.v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.bin"/><Relationship Id="rId8" Type="http://schemas.openxmlformats.org/officeDocument/2006/relationships/tags" Target="../tags/tag13.xml"/><Relationship Id="rId7" Type="http://schemas.openxmlformats.org/officeDocument/2006/relationships/image" Target="../media/image8.wmf"/><Relationship Id="rId6" Type="http://schemas.openxmlformats.org/officeDocument/2006/relationships/oleObject" Target="../embeddings/oleObject3.bin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1" Type="http://schemas.openxmlformats.org/officeDocument/2006/relationships/vmlDrawing" Target="../drawings/vmlDrawing2.vml"/><Relationship Id="rId30" Type="http://schemas.openxmlformats.org/officeDocument/2006/relationships/slideLayout" Target="../slideLayouts/slideLayout2.xml"/><Relationship Id="rId3" Type="http://schemas.openxmlformats.org/officeDocument/2006/relationships/tags" Target="../tags/tag10.xml"/><Relationship Id="rId29" Type="http://schemas.openxmlformats.org/officeDocument/2006/relationships/tags" Target="../tags/tag24.xml"/><Relationship Id="rId28" Type="http://schemas.openxmlformats.org/officeDocument/2006/relationships/image" Target="../media/image13.wmf"/><Relationship Id="rId27" Type="http://schemas.openxmlformats.org/officeDocument/2006/relationships/oleObject" Target="../embeddings/oleObject8.bin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image" Target="../media/image12.wmf"/><Relationship Id="rId23" Type="http://schemas.openxmlformats.org/officeDocument/2006/relationships/oleObject" Target="../embeddings/oleObject7.bin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image" Target="../media/image11.wmf"/><Relationship Id="rId2" Type="http://schemas.openxmlformats.org/officeDocument/2006/relationships/image" Target="../media/image7.png"/><Relationship Id="rId19" Type="http://schemas.openxmlformats.org/officeDocument/2006/relationships/oleObject" Target="../embeddings/oleObject6.bin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image" Target="../media/image10.wmf"/><Relationship Id="rId15" Type="http://schemas.openxmlformats.org/officeDocument/2006/relationships/oleObject" Target="../embeddings/oleObject5.bin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image" Target="../media/image9.wmf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wmf"/><Relationship Id="rId8" Type="http://schemas.openxmlformats.org/officeDocument/2006/relationships/oleObject" Target="../embeddings/oleObject11.bin"/><Relationship Id="rId7" Type="http://schemas.openxmlformats.org/officeDocument/2006/relationships/image" Target="../media/image15.wmf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9.bin"/><Relationship Id="rId3" Type="http://schemas.openxmlformats.org/officeDocument/2006/relationships/tags" Target="../tags/tag27.xml"/><Relationship Id="rId26" Type="http://schemas.openxmlformats.org/officeDocument/2006/relationships/vmlDrawing" Target="../drawings/vmlDrawing3.vml"/><Relationship Id="rId25" Type="http://schemas.openxmlformats.org/officeDocument/2006/relationships/slideLayout" Target="../slideLayouts/slideLayout2.xml"/><Relationship Id="rId24" Type="http://schemas.openxmlformats.org/officeDocument/2006/relationships/image" Target="../media/image22.wmf"/><Relationship Id="rId23" Type="http://schemas.openxmlformats.org/officeDocument/2006/relationships/oleObject" Target="../embeddings/oleObject17.bin"/><Relationship Id="rId22" Type="http://schemas.openxmlformats.org/officeDocument/2006/relationships/tags" Target="../tags/tag30.xml"/><Relationship Id="rId21" Type="http://schemas.openxmlformats.org/officeDocument/2006/relationships/image" Target="../media/image21.wmf"/><Relationship Id="rId20" Type="http://schemas.openxmlformats.org/officeDocument/2006/relationships/oleObject" Target="../embeddings/oleObject16.bin"/><Relationship Id="rId2" Type="http://schemas.openxmlformats.org/officeDocument/2006/relationships/tags" Target="../tags/tag26.xml"/><Relationship Id="rId19" Type="http://schemas.openxmlformats.org/officeDocument/2006/relationships/tags" Target="../tags/tag29.xml"/><Relationship Id="rId18" Type="http://schemas.openxmlformats.org/officeDocument/2006/relationships/image" Target="../media/image20.wmf"/><Relationship Id="rId17" Type="http://schemas.openxmlformats.org/officeDocument/2006/relationships/oleObject" Target="../embeddings/oleObject15.bin"/><Relationship Id="rId16" Type="http://schemas.openxmlformats.org/officeDocument/2006/relationships/tags" Target="../tags/tag28.xml"/><Relationship Id="rId15" Type="http://schemas.openxmlformats.org/officeDocument/2006/relationships/image" Target="../media/image19.wmf"/><Relationship Id="rId14" Type="http://schemas.openxmlformats.org/officeDocument/2006/relationships/oleObject" Target="../embeddings/oleObject14.bin"/><Relationship Id="rId13" Type="http://schemas.openxmlformats.org/officeDocument/2006/relationships/image" Target="../media/image18.wmf"/><Relationship Id="rId12" Type="http://schemas.openxmlformats.org/officeDocument/2006/relationships/oleObject" Target="../embeddings/oleObject13.bin"/><Relationship Id="rId11" Type="http://schemas.openxmlformats.org/officeDocument/2006/relationships/image" Target="../media/image17.wmf"/><Relationship Id="rId10" Type="http://schemas.openxmlformats.org/officeDocument/2006/relationships/oleObject" Target="../embeddings/oleObject12.bin"/><Relationship Id="rId1" Type="http://schemas.openxmlformats.org/officeDocument/2006/relationships/tags" Target="../tags/tag2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image" Target="../media/image24.wmf"/><Relationship Id="rId7" Type="http://schemas.openxmlformats.org/officeDocument/2006/relationships/oleObject" Target="../embeddings/oleObject19.bin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image" Target="../media/image23.wmf"/><Relationship Id="rId11" Type="http://schemas.openxmlformats.org/officeDocument/2006/relationships/vmlDrawing" Target="../drawings/vmlDrawing4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18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wmf"/><Relationship Id="rId8" Type="http://schemas.openxmlformats.org/officeDocument/2006/relationships/oleObject" Target="../embeddings/oleObject22.bin"/><Relationship Id="rId7" Type="http://schemas.openxmlformats.org/officeDocument/2006/relationships/image" Target="../media/image26.wmf"/><Relationship Id="rId6" Type="http://schemas.openxmlformats.org/officeDocument/2006/relationships/oleObject" Target="../embeddings/oleObject21.bin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image" Target="../media/image25.wmf"/><Relationship Id="rId2" Type="http://schemas.openxmlformats.org/officeDocument/2006/relationships/oleObject" Target="../embeddings/oleObject20.bin"/><Relationship Id="rId13" Type="http://schemas.openxmlformats.org/officeDocument/2006/relationships/vmlDrawing" Target="../drawings/vmlDrawing5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28.png"/><Relationship Id="rId10" Type="http://schemas.openxmlformats.org/officeDocument/2006/relationships/tags" Target="../tags/tag39.xml"/><Relationship Id="rId1" Type="http://schemas.openxmlformats.org/officeDocument/2006/relationships/tags" Target="../tags/tag3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tags" Target="../tags/tag40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7.wmf"/><Relationship Id="rId3" Type="http://schemas.openxmlformats.org/officeDocument/2006/relationships/oleObject" Target="../embeddings/oleObject23.bin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tags" Target="../tags/tag4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4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47.xml"/><Relationship Id="rId4" Type="http://schemas.openxmlformats.org/officeDocument/2006/relationships/image" Target="../media/image33.png"/><Relationship Id="rId3" Type="http://schemas.openxmlformats.org/officeDocument/2006/relationships/tags" Target="../tags/tag46.xml"/><Relationship Id="rId2" Type="http://schemas.openxmlformats.org/officeDocument/2006/relationships/image" Target="../media/image32.png"/><Relationship Id="rId1" Type="http://schemas.openxmlformats.org/officeDocument/2006/relationships/tags" Target="../tags/tag45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6.png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image" Target="../media/image35.jpeg"/><Relationship Id="rId3" Type="http://schemas.openxmlformats.org/officeDocument/2006/relationships/image" Target="../media/image34.jpeg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tags" Target="../tags/tag53.xml"/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tags" Target="../tags/tag52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jpeg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6.jpeg"/><Relationship Id="rId4" Type="http://schemas.openxmlformats.org/officeDocument/2006/relationships/image" Target="../media/image45.jpeg"/><Relationship Id="rId3" Type="http://schemas.openxmlformats.org/officeDocument/2006/relationships/tags" Target="../tags/tag56.xml"/><Relationship Id="rId2" Type="http://schemas.openxmlformats.org/officeDocument/2006/relationships/image" Target="../media/image44.jpeg"/><Relationship Id="rId1" Type="http://schemas.openxmlformats.org/officeDocument/2006/relationships/image" Target="../media/image43.jpe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9.jpeg"/><Relationship Id="rId4" Type="http://schemas.openxmlformats.org/officeDocument/2006/relationships/image" Target="../media/image48.jpeg"/><Relationship Id="rId3" Type="http://schemas.openxmlformats.org/officeDocument/2006/relationships/image" Target="../media/image47.png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9.xml"/><Relationship Id="rId2" Type="http://schemas.openxmlformats.org/officeDocument/2006/relationships/image" Target="../media/image51.jpeg"/><Relationship Id="rId1" Type="http://schemas.openxmlformats.org/officeDocument/2006/relationships/image" Target="../media/image50.jpe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tags" Target="../tags/tag63.xml"/><Relationship Id="rId4" Type="http://schemas.openxmlformats.org/officeDocument/2006/relationships/image" Target="../media/image52.png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image" Target="../media/image47.png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image" Target="../media/image54.png"/><Relationship Id="rId1" Type="http://schemas.openxmlformats.org/officeDocument/2006/relationships/tags" Target="../tags/tag64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6.jpeg"/><Relationship Id="rId4" Type="http://schemas.openxmlformats.org/officeDocument/2006/relationships/tags" Target="../tags/tag71.xml"/><Relationship Id="rId3" Type="http://schemas.openxmlformats.org/officeDocument/2006/relationships/image" Target="../media/image55.jpe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jpeg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image" Target="../media/image60.jpeg"/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57.jpe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image" Target="../media/image47.png"/><Relationship Id="rId1" Type="http://schemas.openxmlformats.org/officeDocument/2006/relationships/tags" Target="../tags/tag76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1.png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wmf"/><Relationship Id="rId4" Type="http://schemas.openxmlformats.org/officeDocument/2006/relationships/oleObject" Target="../embeddings/oleObject24.bin"/><Relationship Id="rId3" Type="http://schemas.openxmlformats.org/officeDocument/2006/relationships/image" Target="../media/image66.png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9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 bwMode="auto">
          <a:xfrm>
            <a:off x="3513493" y="4687500"/>
            <a:ext cx="211701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100">
                <a:solidFill>
                  <a:schemeClr val="bg1"/>
                </a:solidFill>
                <a:latin typeface="+mj-ea"/>
                <a:ea typeface="+mj-ea"/>
                <a:cs typeface="微软雅黑" panose="020B0503020204020204" pitchFamily="34" charset="-122"/>
              </a:rPr>
              <a:t>金山大学稻壳学院</a:t>
            </a:r>
            <a:endParaRPr kumimoji="0" lang="zh-CN" altLang="en-US" sz="1200" b="0" i="0" u="none" strike="noStrike" kern="1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842010" y="1795780"/>
            <a:ext cx="7941945" cy="397510"/>
          </a:xfrm>
          <a:prstGeom prst="rect">
            <a:avLst/>
          </a:prstGeom>
        </p:spPr>
        <p:txBody>
          <a:bodyPr wrap="none">
            <a:no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3200" b="1" spc="3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基于策略迭代的路径规划算法设计与实现</a:t>
            </a:r>
            <a:endParaRPr kumimoji="0" lang="zh-CN" altLang="en-US" sz="3200" b="1" i="0" u="none" strike="noStrike" kern="100" cap="none" spc="30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2723515" y="3194685"/>
            <a:ext cx="3835400" cy="5029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/>
                </a:solidFill>
                <a:latin typeface="+mj-ea"/>
                <a:ea typeface="+mj-ea"/>
              </a:rPr>
              <a:t>答辩学生：王淇正</a:t>
            </a:r>
            <a:r>
              <a:rPr lang="en-US" altLang="zh-CN" sz="1600">
                <a:solidFill>
                  <a:schemeClr val="bg1"/>
                </a:solidFill>
                <a:latin typeface="+mj-ea"/>
                <a:ea typeface="+mj-ea"/>
              </a:rPr>
              <a:t>      </a:t>
            </a:r>
            <a:r>
              <a:rPr lang="zh-CN" altLang="en-US" sz="1600">
                <a:solidFill>
                  <a:schemeClr val="bg1"/>
                </a:solidFill>
                <a:latin typeface="+mj-ea"/>
                <a:ea typeface="+mj-ea"/>
              </a:rPr>
              <a:t>指导老师：罗倩</a:t>
            </a:r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-10391" y="4137020"/>
            <a:ext cx="9154391" cy="1006481"/>
            <a:chOff x="-10391" y="4137020"/>
            <a:chExt cx="9154391" cy="1006481"/>
          </a:xfrm>
        </p:grpSpPr>
        <p:sp>
          <p:nvSpPr>
            <p:cNvPr id="22" name="Rectangle 5"/>
            <p:cNvSpPr>
              <a:spLocks noChangeArrowheads="1"/>
            </p:cNvSpPr>
            <p:nvPr/>
          </p:nvSpPr>
          <p:spPr bwMode="auto">
            <a:xfrm>
              <a:off x="2668367" y="4455131"/>
              <a:ext cx="6475633" cy="47401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 bwMode="auto">
            <a:xfrm>
              <a:off x="-10391" y="4137020"/>
              <a:ext cx="9154391" cy="1006481"/>
            </a:xfrm>
            <a:custGeom>
              <a:avLst/>
              <a:gdLst>
                <a:gd name="connsiteX0" fmla="*/ 0 w 9154391"/>
                <a:gd name="connsiteY0" fmla="*/ 0 h 1006481"/>
                <a:gd name="connsiteX1" fmla="*/ 2992130 w 9154391"/>
                <a:gd name="connsiteY1" fmla="*/ 0 h 1006481"/>
                <a:gd name="connsiteX2" fmla="*/ 3924521 w 9154391"/>
                <a:gd name="connsiteY2" fmla="*/ 559797 h 1006481"/>
                <a:gd name="connsiteX3" fmla="*/ 9154391 w 9154391"/>
                <a:gd name="connsiteY3" fmla="*/ 559797 h 1006481"/>
                <a:gd name="connsiteX4" fmla="*/ 9154391 w 9154391"/>
                <a:gd name="connsiteY4" fmla="*/ 939117 h 1006481"/>
                <a:gd name="connsiteX5" fmla="*/ 9154391 w 9154391"/>
                <a:gd name="connsiteY5" fmla="*/ 1006481 h 1006481"/>
                <a:gd name="connsiteX6" fmla="*/ 0 w 9154391"/>
                <a:gd name="connsiteY6" fmla="*/ 1006481 h 1006481"/>
                <a:gd name="connsiteX7" fmla="*/ 0 w 9154391"/>
                <a:gd name="connsiteY7" fmla="*/ 923127 h 1006481"/>
                <a:gd name="connsiteX8" fmla="*/ 0 w 9154391"/>
                <a:gd name="connsiteY8" fmla="*/ 0 h 100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54391" h="1006481">
                  <a:moveTo>
                    <a:pt x="0" y="0"/>
                  </a:moveTo>
                  <a:cubicBezTo>
                    <a:pt x="152573" y="0"/>
                    <a:pt x="1542685" y="0"/>
                    <a:pt x="2992130" y="0"/>
                  </a:cubicBezTo>
                  <a:cubicBezTo>
                    <a:pt x="3610899" y="0"/>
                    <a:pt x="3483754" y="559797"/>
                    <a:pt x="3924521" y="559797"/>
                  </a:cubicBezTo>
                  <a:cubicBezTo>
                    <a:pt x="4246621" y="559797"/>
                    <a:pt x="9154391" y="559797"/>
                    <a:pt x="9154391" y="559797"/>
                  </a:cubicBezTo>
                  <a:cubicBezTo>
                    <a:pt x="9154391" y="713203"/>
                    <a:pt x="9154391" y="837846"/>
                    <a:pt x="9154391" y="939117"/>
                  </a:cubicBezTo>
                  <a:lnTo>
                    <a:pt x="9154391" y="1006481"/>
                  </a:lnTo>
                  <a:lnTo>
                    <a:pt x="0" y="1006481"/>
                  </a:lnTo>
                  <a:lnTo>
                    <a:pt x="0" y="923127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26" name="矩形 25"/>
          <p:cNvSpPr/>
          <p:nvPr/>
        </p:nvSpPr>
        <p:spPr bwMode="auto">
          <a:xfrm>
            <a:off x="6154420" y="4826000"/>
            <a:ext cx="2773680" cy="2755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latin typeface="+mj-ea"/>
                <a:ea typeface="+mj-ea"/>
                <a:cs typeface="微软雅黑" panose="020B0503020204020204" pitchFamily="34" charset="-122"/>
              </a:rPr>
              <a:t>北京信息科技大学信息与通信</a:t>
            </a:r>
            <a:r>
              <a:rPr lang="zh-CN" altLang="en-US" sz="1200" kern="100">
                <a:solidFill>
                  <a:schemeClr val="bg1"/>
                </a:solidFill>
                <a:latin typeface="+mj-ea"/>
                <a:ea typeface="+mj-ea"/>
                <a:cs typeface="微软雅黑" panose="020B0503020204020204" pitchFamily="34" charset="-122"/>
              </a:rPr>
              <a:t>工程学院</a:t>
            </a:r>
            <a:endParaRPr kumimoji="0" lang="zh-CN" altLang="en-US" sz="1200" i="0" u="none" strike="noStrike" kern="1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434">
        <p159:morph option="byObject"/>
      </p:transition>
    </mc:Choice>
    <mc:Fallback>
      <p:transition spd="slow" advTm="9434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 bwMode="auto">
          <a:xfrm>
            <a:off x="3513493" y="4687500"/>
            <a:ext cx="211701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100">
                <a:solidFill>
                  <a:schemeClr val="bg1"/>
                </a:solidFill>
                <a:latin typeface="+mj-ea"/>
                <a:ea typeface="+mj-ea"/>
                <a:cs typeface="微软雅黑" panose="020B0503020204020204" pitchFamily="34" charset="-122"/>
              </a:rPr>
              <a:t>金山大学稻壳学院</a:t>
            </a:r>
            <a:endParaRPr kumimoji="0" lang="zh-CN" altLang="en-US" sz="1200" b="0" i="0" u="none" strike="noStrike" kern="1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-10391" y="4137020"/>
            <a:ext cx="9154391" cy="1006481"/>
            <a:chOff x="-10391" y="4137020"/>
            <a:chExt cx="9154391" cy="1006481"/>
          </a:xfrm>
        </p:grpSpPr>
        <p:sp>
          <p:nvSpPr>
            <p:cNvPr id="22" name="Rectangle 5"/>
            <p:cNvSpPr>
              <a:spLocks noChangeArrowheads="1"/>
            </p:cNvSpPr>
            <p:nvPr/>
          </p:nvSpPr>
          <p:spPr bwMode="auto">
            <a:xfrm>
              <a:off x="2668367" y="4455131"/>
              <a:ext cx="6475633" cy="47401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 bwMode="auto">
            <a:xfrm>
              <a:off x="-10391" y="4137020"/>
              <a:ext cx="9154391" cy="1006481"/>
            </a:xfrm>
            <a:custGeom>
              <a:avLst/>
              <a:gdLst>
                <a:gd name="connsiteX0" fmla="*/ 0 w 9154391"/>
                <a:gd name="connsiteY0" fmla="*/ 0 h 1006481"/>
                <a:gd name="connsiteX1" fmla="*/ 2992130 w 9154391"/>
                <a:gd name="connsiteY1" fmla="*/ 0 h 1006481"/>
                <a:gd name="connsiteX2" fmla="*/ 3924521 w 9154391"/>
                <a:gd name="connsiteY2" fmla="*/ 559797 h 1006481"/>
                <a:gd name="connsiteX3" fmla="*/ 9154391 w 9154391"/>
                <a:gd name="connsiteY3" fmla="*/ 559797 h 1006481"/>
                <a:gd name="connsiteX4" fmla="*/ 9154391 w 9154391"/>
                <a:gd name="connsiteY4" fmla="*/ 939117 h 1006481"/>
                <a:gd name="connsiteX5" fmla="*/ 9154391 w 9154391"/>
                <a:gd name="connsiteY5" fmla="*/ 1006481 h 1006481"/>
                <a:gd name="connsiteX6" fmla="*/ 0 w 9154391"/>
                <a:gd name="connsiteY6" fmla="*/ 1006481 h 1006481"/>
                <a:gd name="connsiteX7" fmla="*/ 0 w 9154391"/>
                <a:gd name="connsiteY7" fmla="*/ 923127 h 1006481"/>
                <a:gd name="connsiteX8" fmla="*/ 0 w 9154391"/>
                <a:gd name="connsiteY8" fmla="*/ 0 h 100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54391" h="1006481">
                  <a:moveTo>
                    <a:pt x="0" y="0"/>
                  </a:moveTo>
                  <a:cubicBezTo>
                    <a:pt x="152573" y="0"/>
                    <a:pt x="1542685" y="0"/>
                    <a:pt x="2992130" y="0"/>
                  </a:cubicBezTo>
                  <a:cubicBezTo>
                    <a:pt x="3610899" y="0"/>
                    <a:pt x="3483754" y="559797"/>
                    <a:pt x="3924521" y="559797"/>
                  </a:cubicBezTo>
                  <a:cubicBezTo>
                    <a:pt x="4246621" y="559797"/>
                    <a:pt x="9154391" y="559797"/>
                    <a:pt x="9154391" y="559797"/>
                  </a:cubicBezTo>
                  <a:cubicBezTo>
                    <a:pt x="9154391" y="713203"/>
                    <a:pt x="9154391" y="837846"/>
                    <a:pt x="9154391" y="939117"/>
                  </a:cubicBezTo>
                  <a:lnTo>
                    <a:pt x="9154391" y="1006481"/>
                  </a:lnTo>
                  <a:lnTo>
                    <a:pt x="0" y="1006481"/>
                  </a:lnTo>
                  <a:lnTo>
                    <a:pt x="0" y="923127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 bwMode="auto">
          <a:xfrm>
            <a:off x="883614" y="1775615"/>
            <a:ext cx="14157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b="1" kern="100">
                <a:solidFill>
                  <a:schemeClr val="accent1"/>
                </a:solidFill>
                <a:latin typeface="+mj-ea"/>
                <a:ea typeface="+mj-ea"/>
                <a:cs typeface="微软雅黑" panose="020B0503020204020204" pitchFamily="34" charset="-122"/>
              </a:rPr>
              <a:t>目录</a:t>
            </a:r>
            <a:endParaRPr kumimoji="0" lang="zh-CN" altLang="en-US" sz="4800" b="0" i="0" u="none" strike="noStrike" kern="1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sp>
        <p:nvSpPr>
          <p:cNvPr id="19" name="文本框 6"/>
          <p:cNvSpPr txBox="1">
            <a:spLocks noChangeArrowheads="1"/>
          </p:cNvSpPr>
          <p:nvPr/>
        </p:nvSpPr>
        <p:spPr bwMode="auto">
          <a:xfrm>
            <a:off x="5300345" y="855345"/>
            <a:ext cx="1787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研究意义及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内容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4735057" y="774578"/>
            <a:ext cx="531445" cy="5314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8" name="矩形 17"/>
          <p:cNvSpPr/>
          <p:nvPr/>
        </p:nvSpPr>
        <p:spPr bwMode="auto">
          <a:xfrm>
            <a:off x="4756161" y="855634"/>
            <a:ext cx="4892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kern="100">
                <a:solidFill>
                  <a:schemeClr val="bg1"/>
                </a:solidFill>
                <a:latin typeface="+mj-ea"/>
                <a:ea typeface="+mj-ea"/>
                <a:cs typeface="微软雅黑" panose="020B0503020204020204" pitchFamily="34" charset="-122"/>
              </a:rPr>
              <a:t>01</a:t>
            </a:r>
            <a:endParaRPr kumimoji="0" lang="zh-CN" altLang="en-US" b="0" i="0" u="none" strike="noStrike" kern="1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sp>
        <p:nvSpPr>
          <p:cNvPr id="30" name="文本框 6"/>
          <p:cNvSpPr txBox="1">
            <a:spLocks noChangeArrowheads="1"/>
          </p:cNvSpPr>
          <p:nvPr/>
        </p:nvSpPr>
        <p:spPr bwMode="auto">
          <a:xfrm>
            <a:off x="5300345" y="1775460"/>
            <a:ext cx="10998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算法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原理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735057" y="1691105"/>
            <a:ext cx="531445" cy="531445"/>
            <a:chOff x="5392616" y="2078893"/>
            <a:chExt cx="531445" cy="531445"/>
          </a:xfrm>
        </p:grpSpPr>
        <p:sp>
          <p:nvSpPr>
            <p:cNvPr id="27" name="椭圆 26"/>
            <p:cNvSpPr/>
            <p:nvPr/>
          </p:nvSpPr>
          <p:spPr>
            <a:xfrm>
              <a:off x="5392616" y="2078893"/>
              <a:ext cx="531445" cy="53144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5413720" y="2163232"/>
              <a:ext cx="48923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100">
                  <a:solidFill>
                    <a:schemeClr val="bg1"/>
                  </a:solidFill>
                  <a:latin typeface="+mj-ea"/>
                  <a:ea typeface="+mj-ea"/>
                  <a:cs typeface="微软雅黑" panose="020B0503020204020204" pitchFamily="34" charset="-122"/>
                </a:rPr>
                <a:t>02</a:t>
              </a:r>
              <a:endParaRPr kumimoji="0" lang="zh-CN" altLang="en-US" b="0" i="0" u="none" strike="noStrike" kern="1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pitchFamily="34" charset="-122"/>
              </a:endParaRPr>
            </a:p>
          </p:txBody>
        </p:sp>
      </p:grpSp>
      <p:sp>
        <p:nvSpPr>
          <p:cNvPr id="37" name="文本框 6"/>
          <p:cNvSpPr txBox="1">
            <a:spLocks noChangeArrowheads="1"/>
          </p:cNvSpPr>
          <p:nvPr/>
        </p:nvSpPr>
        <p:spPr bwMode="auto">
          <a:xfrm>
            <a:off x="5300345" y="2696845"/>
            <a:ext cx="10998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实现方法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4735057" y="2602307"/>
            <a:ext cx="531445" cy="5314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6" name="矩形 35"/>
          <p:cNvSpPr/>
          <p:nvPr/>
        </p:nvSpPr>
        <p:spPr bwMode="auto">
          <a:xfrm>
            <a:off x="4756161" y="2683363"/>
            <a:ext cx="489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kern="100">
                <a:solidFill>
                  <a:schemeClr val="bg1"/>
                </a:solidFill>
                <a:latin typeface="+mj-ea"/>
                <a:ea typeface="+mj-ea"/>
                <a:cs typeface="微软雅黑" panose="020B0503020204020204" pitchFamily="34" charset="-122"/>
              </a:rPr>
              <a:t>03</a:t>
            </a:r>
            <a:endParaRPr kumimoji="0" lang="zh-CN" altLang="en-US" b="0" i="0" u="none" strike="noStrike" kern="1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sp>
        <p:nvSpPr>
          <p:cNvPr id="44" name="文本框 6"/>
          <p:cNvSpPr txBox="1">
            <a:spLocks noChangeArrowheads="1"/>
          </p:cNvSpPr>
          <p:nvPr/>
        </p:nvSpPr>
        <p:spPr bwMode="auto">
          <a:xfrm>
            <a:off x="5267325" y="3618230"/>
            <a:ext cx="154241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结果及分析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4735057" y="3518834"/>
            <a:ext cx="531445" cy="5314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3" name="矩形 42"/>
          <p:cNvSpPr/>
          <p:nvPr/>
        </p:nvSpPr>
        <p:spPr bwMode="auto">
          <a:xfrm>
            <a:off x="4756161" y="3599890"/>
            <a:ext cx="489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kern="100">
                <a:solidFill>
                  <a:schemeClr val="bg1"/>
                </a:solidFill>
                <a:latin typeface="+mj-ea"/>
                <a:ea typeface="+mj-ea"/>
                <a:cs typeface="微软雅黑" panose="020B0503020204020204" pitchFamily="34" charset="-122"/>
              </a:rPr>
              <a:t>04</a:t>
            </a:r>
            <a:endParaRPr kumimoji="0" lang="zh-CN" altLang="en-US" b="0" i="0" u="none" strike="noStrike" kern="1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6154420" y="4826000"/>
            <a:ext cx="2773680" cy="275590"/>
          </a:xfrm>
          <a:prstGeom prst="rect">
            <a:avLst/>
          </a:prstGeom>
        </p:spPr>
        <p:txBody>
          <a:bodyPr wrap="none">
            <a:spAutoFit/>
          </a:bodyPr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latin typeface="+mj-ea"/>
                <a:ea typeface="+mj-ea"/>
                <a:cs typeface="微软雅黑" panose="020B0503020204020204" pitchFamily="34" charset="-122"/>
                <a:sym typeface="+mn-ea"/>
              </a:rPr>
              <a:t>北京信息科技大学信息与通信工程学院</a:t>
            </a:r>
            <a:endParaRPr kumimoji="0" lang="zh-CN" altLang="en-US" sz="1200" i="0" u="none" strike="noStrike" kern="1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156">
        <p159:morph option="byObject"/>
      </p:transition>
    </mc:Choice>
    <mc:Fallback>
      <p:transition spd="slow" advTm="3156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 bwMode="auto">
          <a:xfrm>
            <a:off x="3513493" y="4687500"/>
            <a:ext cx="211701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100">
                <a:solidFill>
                  <a:schemeClr val="bg1"/>
                </a:solidFill>
                <a:latin typeface="+mj-ea"/>
                <a:ea typeface="+mj-ea"/>
                <a:cs typeface="微软雅黑" panose="020B0503020204020204" pitchFamily="34" charset="-122"/>
              </a:rPr>
              <a:t>金山大学稻壳学院</a:t>
            </a:r>
            <a:endParaRPr kumimoji="0" lang="zh-CN" altLang="en-US" sz="1200" b="0" i="0" u="none" strike="noStrike" kern="1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-10391" y="4137020"/>
            <a:ext cx="9154391" cy="1006481"/>
            <a:chOff x="-10391" y="4137020"/>
            <a:chExt cx="9154391" cy="1006481"/>
          </a:xfrm>
        </p:grpSpPr>
        <p:sp>
          <p:nvSpPr>
            <p:cNvPr id="22" name="Rectangle 5"/>
            <p:cNvSpPr>
              <a:spLocks noChangeArrowheads="1"/>
            </p:cNvSpPr>
            <p:nvPr/>
          </p:nvSpPr>
          <p:spPr bwMode="auto">
            <a:xfrm>
              <a:off x="2668367" y="4455131"/>
              <a:ext cx="6475633" cy="47401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 bwMode="auto">
            <a:xfrm>
              <a:off x="-10391" y="4137020"/>
              <a:ext cx="9154391" cy="1006481"/>
            </a:xfrm>
            <a:custGeom>
              <a:avLst/>
              <a:gdLst>
                <a:gd name="connsiteX0" fmla="*/ 0 w 9154391"/>
                <a:gd name="connsiteY0" fmla="*/ 0 h 1006481"/>
                <a:gd name="connsiteX1" fmla="*/ 2992130 w 9154391"/>
                <a:gd name="connsiteY1" fmla="*/ 0 h 1006481"/>
                <a:gd name="connsiteX2" fmla="*/ 3924521 w 9154391"/>
                <a:gd name="connsiteY2" fmla="*/ 559797 h 1006481"/>
                <a:gd name="connsiteX3" fmla="*/ 9154391 w 9154391"/>
                <a:gd name="connsiteY3" fmla="*/ 559797 h 1006481"/>
                <a:gd name="connsiteX4" fmla="*/ 9154391 w 9154391"/>
                <a:gd name="connsiteY4" fmla="*/ 939117 h 1006481"/>
                <a:gd name="connsiteX5" fmla="*/ 9154391 w 9154391"/>
                <a:gd name="connsiteY5" fmla="*/ 1006481 h 1006481"/>
                <a:gd name="connsiteX6" fmla="*/ 0 w 9154391"/>
                <a:gd name="connsiteY6" fmla="*/ 1006481 h 1006481"/>
                <a:gd name="connsiteX7" fmla="*/ 0 w 9154391"/>
                <a:gd name="connsiteY7" fmla="*/ 923127 h 1006481"/>
                <a:gd name="connsiteX8" fmla="*/ 0 w 9154391"/>
                <a:gd name="connsiteY8" fmla="*/ 0 h 100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54391" h="1006481">
                  <a:moveTo>
                    <a:pt x="0" y="0"/>
                  </a:moveTo>
                  <a:cubicBezTo>
                    <a:pt x="152573" y="0"/>
                    <a:pt x="1542685" y="0"/>
                    <a:pt x="2992130" y="0"/>
                  </a:cubicBezTo>
                  <a:cubicBezTo>
                    <a:pt x="3610899" y="0"/>
                    <a:pt x="3483754" y="559797"/>
                    <a:pt x="3924521" y="559797"/>
                  </a:cubicBezTo>
                  <a:cubicBezTo>
                    <a:pt x="4246621" y="559797"/>
                    <a:pt x="9154391" y="559797"/>
                    <a:pt x="9154391" y="559797"/>
                  </a:cubicBezTo>
                  <a:cubicBezTo>
                    <a:pt x="9154391" y="713203"/>
                    <a:pt x="9154391" y="837846"/>
                    <a:pt x="9154391" y="939117"/>
                  </a:cubicBezTo>
                  <a:lnTo>
                    <a:pt x="9154391" y="1006481"/>
                  </a:lnTo>
                  <a:lnTo>
                    <a:pt x="0" y="1006481"/>
                  </a:lnTo>
                  <a:lnTo>
                    <a:pt x="0" y="923127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12" name="矩形 11"/>
          <p:cNvSpPr/>
          <p:nvPr/>
        </p:nvSpPr>
        <p:spPr bwMode="auto">
          <a:xfrm>
            <a:off x="2668905" y="2286635"/>
            <a:ext cx="3952875" cy="65278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pitchFamily="34" charset="-122"/>
              </a:rPr>
              <a:t>研究意义及内容</a:t>
            </a:r>
            <a:endParaRPr kumimoji="0" lang="zh-CN" altLang="en-US" sz="4000" b="1" i="0" u="none" strike="noStrike" kern="1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048283" y="1051069"/>
            <a:ext cx="1047434" cy="1047434"/>
            <a:chOff x="4048283" y="998818"/>
            <a:chExt cx="1047434" cy="1047434"/>
          </a:xfrm>
        </p:grpSpPr>
        <p:sp>
          <p:nvSpPr>
            <p:cNvPr id="16" name="椭圆 15"/>
            <p:cNvSpPr/>
            <p:nvPr/>
          </p:nvSpPr>
          <p:spPr>
            <a:xfrm>
              <a:off x="4048283" y="998818"/>
              <a:ext cx="1047434" cy="104743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4139830" y="1194718"/>
              <a:ext cx="86434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4000" b="1" kern="100">
                  <a:solidFill>
                    <a:schemeClr val="bg1"/>
                  </a:solidFill>
                  <a:latin typeface="+mj-ea"/>
                  <a:ea typeface="+mj-ea"/>
                  <a:cs typeface="微软雅黑" panose="020B0503020204020204" pitchFamily="34" charset="-122"/>
                </a:rPr>
                <a:t>01</a:t>
              </a:r>
              <a:endParaRPr kumimoji="0" lang="zh-CN" altLang="en-US" sz="4000" b="0" i="0" u="none" strike="noStrike" kern="1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pitchFamily="34" charset="-122"/>
              </a:endParaRPr>
            </a:p>
          </p:txBody>
        </p:sp>
      </p:grpSp>
      <p:sp>
        <p:nvSpPr>
          <p:cNvPr id="3" name="矩形 2"/>
          <p:cNvSpPr/>
          <p:nvPr/>
        </p:nvSpPr>
        <p:spPr bwMode="auto">
          <a:xfrm>
            <a:off x="6154420" y="4826000"/>
            <a:ext cx="2773680" cy="2755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latin typeface="+mj-ea"/>
                <a:ea typeface="+mj-ea"/>
                <a:cs typeface="微软雅黑" panose="020B0503020204020204" pitchFamily="34" charset="-122"/>
                <a:sym typeface="+mn-ea"/>
              </a:rPr>
              <a:t>北京信息科技大学信息与通信工程学院</a:t>
            </a:r>
            <a:endParaRPr kumimoji="0" lang="zh-CN" altLang="en-US" sz="1200" i="0" u="none" strike="noStrike" kern="1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74">
        <p159:morph option="byObject"/>
      </p:transition>
    </mc:Choice>
    <mc:Fallback>
      <p:transition spd="slow" advTm="474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224599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课题研究意义及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内容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70510" y="1427480"/>
            <a:ext cx="2022475" cy="22675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270510" y="2157242"/>
            <a:ext cx="2005938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sz="160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物流、交通等实际问题需要路径</a:t>
            </a:r>
            <a:r>
              <a:rPr lang="zh-CN" altLang="en-US" sz="160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规划</a:t>
            </a:r>
            <a:endParaRPr lang="zh-CN" altLang="en-US" sz="1600">
              <a:solidFill>
                <a:schemeClr val="bg1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430780" y="1427480"/>
            <a:ext cx="2022475" cy="22675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444750" y="2157095"/>
            <a:ext cx="2005965" cy="4127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685800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sz="1600" err="1">
                <a:solidFill>
                  <a:schemeClr val="bg1"/>
                </a:solidFill>
                <a:latin typeface="+mn-ea"/>
                <a:cs typeface="+mn-ea"/>
                <a:sym typeface="+mn-lt"/>
              </a:rPr>
              <a:t>提出路径规划算法</a:t>
            </a:r>
            <a:endParaRPr lang="zh-CN" altLang="en-US" sz="1600" err="1">
              <a:solidFill>
                <a:schemeClr val="bg1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671695" y="1427480"/>
            <a:ext cx="2005965" cy="22675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4759117" y="2112792"/>
            <a:ext cx="2005938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l" defTabSz="685800" fontAlgn="auto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sz="1600" err="1">
                <a:solidFill>
                  <a:schemeClr val="bg1"/>
                </a:solidFill>
                <a:latin typeface="+mn-ea"/>
                <a:cs typeface="+mn-ea"/>
                <a:sym typeface="+mn-lt"/>
              </a:rPr>
              <a:t>利用路径规划</a:t>
            </a:r>
            <a:r>
              <a:rPr lang="zh-CN" altLang="en-US" sz="1600" err="1">
                <a:solidFill>
                  <a:schemeClr val="bg1"/>
                </a:solidFill>
                <a:latin typeface="+mn-ea"/>
                <a:cs typeface="+mn-ea"/>
                <a:sym typeface="+mn-lt"/>
              </a:rPr>
              <a:t>算法可以帮助优化交通流量，减少拥堵情况</a:t>
            </a:r>
            <a:r>
              <a:rPr lang="en-US" altLang="zh-CN" sz="1600" err="1">
                <a:solidFill>
                  <a:schemeClr val="bg1"/>
                </a:solidFill>
                <a:latin typeface="+mn-ea"/>
                <a:cs typeface="+mn-ea"/>
                <a:sym typeface="+mn-lt"/>
              </a:rPr>
              <a:t> </a:t>
            </a:r>
            <a:endParaRPr lang="en-US" altLang="zh-CN" sz="1600" err="1">
              <a:solidFill>
                <a:schemeClr val="bg1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912610" y="1427480"/>
            <a:ext cx="2005965" cy="22675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6988810" y="2112645"/>
            <a:ext cx="2005965" cy="11036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l" defTabSz="685800" fontAlgn="auto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sz="1600" err="1">
                <a:solidFill>
                  <a:schemeClr val="bg1"/>
                </a:solidFill>
                <a:latin typeface="+mn-ea"/>
                <a:cs typeface="+mn-ea"/>
                <a:sym typeface="+mn-lt"/>
              </a:rPr>
              <a:t>同时路径规划</a:t>
            </a:r>
            <a:r>
              <a:rPr lang="zh-CN" altLang="en-US" sz="1600" err="1">
                <a:solidFill>
                  <a:schemeClr val="bg1"/>
                </a:solidFill>
                <a:latin typeface="+mn-ea"/>
                <a:cs typeface="+mn-ea"/>
                <a:sym typeface="+mn-lt"/>
              </a:rPr>
              <a:t>算法可以为用户提供便捷的导航和指引</a:t>
            </a:r>
            <a:endParaRPr lang="zh-CN" altLang="en-US" sz="1600" err="1">
              <a:solidFill>
                <a:schemeClr val="bg1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4630" y="1300675"/>
            <a:ext cx="8699500" cy="59397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1067299" y="1557288"/>
            <a:ext cx="31750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1</a:t>
            </a:r>
            <a:endParaRPr lang="en-US" altLang="zh-CN" sz="1600" b="1">
              <a:solidFill>
                <a:schemeClr val="accent1"/>
              </a:solidFill>
              <a:latin typeface="+mj-ea"/>
              <a:ea typeface="+mj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282710" y="1557288"/>
            <a:ext cx="31750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2</a:t>
            </a:r>
            <a:endParaRPr lang="en-US" altLang="zh-CN" sz="1600" b="1">
              <a:solidFill>
                <a:schemeClr val="accent1"/>
              </a:solidFill>
              <a:latin typeface="+mj-ea"/>
              <a:ea typeface="+mj-ea"/>
              <a:sym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498756" y="1557288"/>
            <a:ext cx="31750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3</a:t>
            </a:r>
            <a:endParaRPr lang="en-US" altLang="zh-CN" sz="1600" b="1">
              <a:solidFill>
                <a:schemeClr val="accent1"/>
              </a:solidFill>
              <a:latin typeface="+mj-ea"/>
              <a:ea typeface="+mj-ea"/>
              <a:sym typeface="+mn-lt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764332" y="1557923"/>
            <a:ext cx="31750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4</a:t>
            </a:r>
            <a:endParaRPr lang="en-US" altLang="zh-CN" sz="1600" b="1">
              <a:solidFill>
                <a:schemeClr val="accent1"/>
              </a:solidFill>
              <a:latin typeface="+mj-ea"/>
              <a:ea typeface="+mj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9112">
        <p159:morph option="byObject"/>
      </p:transition>
    </mc:Choice>
    <mc:Fallback>
      <p:transition spd="slow" advTm="19112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 bwMode="auto">
          <a:xfrm>
            <a:off x="3513493" y="4687500"/>
            <a:ext cx="211701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100">
                <a:solidFill>
                  <a:schemeClr val="bg1"/>
                </a:solidFill>
                <a:latin typeface="+mj-ea"/>
                <a:ea typeface="+mj-ea"/>
                <a:cs typeface="微软雅黑" panose="020B0503020204020204" pitchFamily="34" charset="-122"/>
              </a:rPr>
              <a:t>金山大学稻壳学院</a:t>
            </a:r>
            <a:endParaRPr kumimoji="0" lang="zh-CN" altLang="en-US" sz="1200" b="0" i="0" u="none" strike="noStrike" kern="1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-10391" y="4137020"/>
            <a:ext cx="9154391" cy="1006481"/>
            <a:chOff x="-10391" y="4137020"/>
            <a:chExt cx="9154391" cy="1006481"/>
          </a:xfrm>
        </p:grpSpPr>
        <p:sp>
          <p:nvSpPr>
            <p:cNvPr id="22" name="Rectangle 5"/>
            <p:cNvSpPr>
              <a:spLocks noChangeArrowheads="1"/>
            </p:cNvSpPr>
            <p:nvPr/>
          </p:nvSpPr>
          <p:spPr bwMode="auto">
            <a:xfrm>
              <a:off x="2668367" y="4455131"/>
              <a:ext cx="6475633" cy="47401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 bwMode="auto">
            <a:xfrm>
              <a:off x="-10391" y="4137020"/>
              <a:ext cx="9154391" cy="1006481"/>
            </a:xfrm>
            <a:custGeom>
              <a:avLst/>
              <a:gdLst>
                <a:gd name="connsiteX0" fmla="*/ 0 w 9154391"/>
                <a:gd name="connsiteY0" fmla="*/ 0 h 1006481"/>
                <a:gd name="connsiteX1" fmla="*/ 2992130 w 9154391"/>
                <a:gd name="connsiteY1" fmla="*/ 0 h 1006481"/>
                <a:gd name="connsiteX2" fmla="*/ 3924521 w 9154391"/>
                <a:gd name="connsiteY2" fmla="*/ 559797 h 1006481"/>
                <a:gd name="connsiteX3" fmla="*/ 9154391 w 9154391"/>
                <a:gd name="connsiteY3" fmla="*/ 559797 h 1006481"/>
                <a:gd name="connsiteX4" fmla="*/ 9154391 w 9154391"/>
                <a:gd name="connsiteY4" fmla="*/ 939117 h 1006481"/>
                <a:gd name="connsiteX5" fmla="*/ 9154391 w 9154391"/>
                <a:gd name="connsiteY5" fmla="*/ 1006481 h 1006481"/>
                <a:gd name="connsiteX6" fmla="*/ 0 w 9154391"/>
                <a:gd name="connsiteY6" fmla="*/ 1006481 h 1006481"/>
                <a:gd name="connsiteX7" fmla="*/ 0 w 9154391"/>
                <a:gd name="connsiteY7" fmla="*/ 923127 h 1006481"/>
                <a:gd name="connsiteX8" fmla="*/ 0 w 9154391"/>
                <a:gd name="connsiteY8" fmla="*/ 0 h 100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54391" h="1006481">
                  <a:moveTo>
                    <a:pt x="0" y="0"/>
                  </a:moveTo>
                  <a:cubicBezTo>
                    <a:pt x="152573" y="0"/>
                    <a:pt x="1542685" y="0"/>
                    <a:pt x="2992130" y="0"/>
                  </a:cubicBezTo>
                  <a:cubicBezTo>
                    <a:pt x="3610899" y="0"/>
                    <a:pt x="3483754" y="559797"/>
                    <a:pt x="3924521" y="559797"/>
                  </a:cubicBezTo>
                  <a:cubicBezTo>
                    <a:pt x="4246621" y="559797"/>
                    <a:pt x="9154391" y="559797"/>
                    <a:pt x="9154391" y="559797"/>
                  </a:cubicBezTo>
                  <a:cubicBezTo>
                    <a:pt x="9154391" y="713203"/>
                    <a:pt x="9154391" y="837846"/>
                    <a:pt x="9154391" y="939117"/>
                  </a:cubicBezTo>
                  <a:lnTo>
                    <a:pt x="9154391" y="1006481"/>
                  </a:lnTo>
                  <a:lnTo>
                    <a:pt x="0" y="1006481"/>
                  </a:lnTo>
                  <a:lnTo>
                    <a:pt x="0" y="923127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12" name="矩形 11"/>
          <p:cNvSpPr/>
          <p:nvPr/>
        </p:nvSpPr>
        <p:spPr bwMode="auto">
          <a:xfrm>
            <a:off x="3412490" y="2286879"/>
            <a:ext cx="231902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pitchFamily="34" charset="-122"/>
              </a:rPr>
              <a:t>算法</a:t>
            </a:r>
            <a:r>
              <a:rPr kumimoji="0" lang="zh-CN" altLang="en-US" sz="4000" b="1" i="0" u="none" strike="noStrike" kern="1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pitchFamily="34" charset="-122"/>
              </a:rPr>
              <a:t>原理</a:t>
            </a:r>
            <a:endParaRPr kumimoji="0" lang="zh-CN" altLang="en-US" sz="4400" b="1" i="0" u="none" strike="noStrike" kern="1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048283" y="1051069"/>
            <a:ext cx="1047434" cy="1047434"/>
            <a:chOff x="4048283" y="998818"/>
            <a:chExt cx="1047434" cy="1047434"/>
          </a:xfrm>
        </p:grpSpPr>
        <p:sp>
          <p:nvSpPr>
            <p:cNvPr id="16" name="椭圆 15"/>
            <p:cNvSpPr/>
            <p:nvPr/>
          </p:nvSpPr>
          <p:spPr>
            <a:xfrm>
              <a:off x="4048283" y="998818"/>
              <a:ext cx="1047434" cy="104743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4139830" y="1194718"/>
              <a:ext cx="86434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4000" b="1" kern="100">
                  <a:solidFill>
                    <a:schemeClr val="bg1"/>
                  </a:solidFill>
                  <a:latin typeface="+mj-ea"/>
                  <a:ea typeface="+mj-ea"/>
                  <a:cs typeface="微软雅黑" panose="020B0503020204020204" pitchFamily="34" charset="-122"/>
                </a:rPr>
                <a:t>02</a:t>
              </a:r>
              <a:endParaRPr kumimoji="0" lang="zh-CN" altLang="en-US" sz="4000" b="0" i="0" u="none" strike="noStrike" kern="1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pitchFamily="34" charset="-122"/>
              </a:endParaRPr>
            </a:p>
          </p:txBody>
        </p:sp>
      </p:grpSp>
      <p:sp>
        <p:nvSpPr>
          <p:cNvPr id="3" name="矩形 2"/>
          <p:cNvSpPr/>
          <p:nvPr/>
        </p:nvSpPr>
        <p:spPr bwMode="auto">
          <a:xfrm>
            <a:off x="6154420" y="4826000"/>
            <a:ext cx="2773680" cy="2755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latin typeface="+mj-ea"/>
                <a:ea typeface="+mj-ea"/>
                <a:cs typeface="微软雅黑" panose="020B0503020204020204" pitchFamily="34" charset="-122"/>
                <a:sym typeface="+mn-ea"/>
              </a:rPr>
              <a:t>北京信息科技大学信息与通信工程学院</a:t>
            </a:r>
            <a:endParaRPr kumimoji="0" lang="zh-CN" altLang="en-US" sz="1200" i="0" u="none" strike="noStrike" kern="1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6">
        <p159:morph option="byObject"/>
      </p:transition>
    </mc:Choice>
    <mc:Fallback>
      <p:transition spd="slow" advTm="656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0998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算法原理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27200" y="3025423"/>
            <a:ext cx="5089600" cy="2118077"/>
            <a:chOff x="1857300" y="2884013"/>
            <a:chExt cx="5429400" cy="2259487"/>
          </a:xfrm>
        </p:grpSpPr>
        <p:sp>
          <p:nvSpPr>
            <p:cNvPr id="27" name="任意多边形: 形状 26"/>
            <p:cNvSpPr/>
            <p:nvPr/>
          </p:nvSpPr>
          <p:spPr>
            <a:xfrm>
              <a:off x="1857300" y="2967765"/>
              <a:ext cx="5429400" cy="2175735"/>
            </a:xfrm>
            <a:custGeom>
              <a:avLst/>
              <a:gdLst>
                <a:gd name="connsiteX0" fmla="*/ 2714700 w 5429400"/>
                <a:gd name="connsiteY0" fmla="*/ 0 h 2175735"/>
                <a:gd name="connsiteX1" fmla="*/ 5372791 w 5429400"/>
                <a:gd name="connsiteY1" fmla="*/ 1955575 h 2175735"/>
                <a:gd name="connsiteX2" fmla="*/ 5429400 w 5429400"/>
                <a:gd name="connsiteY2" fmla="*/ 2175735 h 2175735"/>
                <a:gd name="connsiteX3" fmla="*/ 0 w 5429400"/>
                <a:gd name="connsiteY3" fmla="*/ 2175735 h 2175735"/>
                <a:gd name="connsiteX4" fmla="*/ 56609 w 5429400"/>
                <a:gd name="connsiteY4" fmla="*/ 1955575 h 2175735"/>
                <a:gd name="connsiteX5" fmla="*/ 2714700 w 5429400"/>
                <a:gd name="connsiteY5" fmla="*/ 0 h 217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29400" h="2175735">
                  <a:moveTo>
                    <a:pt x="2714700" y="0"/>
                  </a:moveTo>
                  <a:cubicBezTo>
                    <a:pt x="3963618" y="0"/>
                    <a:pt x="5020404" y="822614"/>
                    <a:pt x="5372791" y="1955575"/>
                  </a:cubicBezTo>
                  <a:lnTo>
                    <a:pt x="5429400" y="2175735"/>
                  </a:lnTo>
                  <a:lnTo>
                    <a:pt x="0" y="2175735"/>
                  </a:lnTo>
                  <a:lnTo>
                    <a:pt x="56609" y="1955575"/>
                  </a:lnTo>
                  <a:cubicBezTo>
                    <a:pt x="408997" y="822614"/>
                    <a:pt x="1465783" y="0"/>
                    <a:pt x="2714700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84000"/>
              </a:schemeClr>
            </a:solidFill>
            <a:ln w="25400">
              <a:gradFill>
                <a:gsLst>
                  <a:gs pos="36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015"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2500973" y="3591778"/>
              <a:ext cx="4142057" cy="1551722"/>
            </a:xfrm>
            <a:custGeom>
              <a:avLst/>
              <a:gdLst>
                <a:gd name="connsiteX0" fmla="*/ 2071028 w 4142057"/>
                <a:gd name="connsiteY0" fmla="*/ 0 h 1551722"/>
                <a:gd name="connsiteX1" fmla="*/ 4133161 w 4142057"/>
                <a:gd name="connsiteY1" fmla="*/ 1517124 h 1551722"/>
                <a:gd name="connsiteX2" fmla="*/ 4142057 w 4142057"/>
                <a:gd name="connsiteY2" fmla="*/ 1551722 h 1551722"/>
                <a:gd name="connsiteX3" fmla="*/ 0 w 4142057"/>
                <a:gd name="connsiteY3" fmla="*/ 1551722 h 1551722"/>
                <a:gd name="connsiteX4" fmla="*/ 8896 w 4142057"/>
                <a:gd name="connsiteY4" fmla="*/ 1517124 h 1551722"/>
                <a:gd name="connsiteX5" fmla="*/ 2071028 w 4142057"/>
                <a:gd name="connsiteY5" fmla="*/ 0 h 155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42057" h="1551722">
                  <a:moveTo>
                    <a:pt x="2071028" y="0"/>
                  </a:moveTo>
                  <a:cubicBezTo>
                    <a:pt x="3039932" y="0"/>
                    <a:pt x="3859781" y="638179"/>
                    <a:pt x="4133161" y="1517124"/>
                  </a:cubicBezTo>
                  <a:lnTo>
                    <a:pt x="4142057" y="1551722"/>
                  </a:lnTo>
                  <a:lnTo>
                    <a:pt x="0" y="1551722"/>
                  </a:lnTo>
                  <a:lnTo>
                    <a:pt x="8896" y="1517124"/>
                  </a:lnTo>
                  <a:cubicBezTo>
                    <a:pt x="282276" y="638179"/>
                    <a:pt x="1102124" y="0"/>
                    <a:pt x="2071028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015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3227638" y="4274776"/>
              <a:ext cx="2688725" cy="868724"/>
            </a:xfrm>
            <a:custGeom>
              <a:avLst/>
              <a:gdLst>
                <a:gd name="connsiteX0" fmla="*/ 1344362 w 2688725"/>
                <a:gd name="connsiteY0" fmla="*/ 0 h 868724"/>
                <a:gd name="connsiteX1" fmla="*/ 2642400 w 2688725"/>
                <a:gd name="connsiteY1" fmla="*/ 772560 h 868724"/>
                <a:gd name="connsiteX2" fmla="*/ 2688725 w 2688725"/>
                <a:gd name="connsiteY2" fmla="*/ 868724 h 868724"/>
                <a:gd name="connsiteX3" fmla="*/ 0 w 2688725"/>
                <a:gd name="connsiteY3" fmla="*/ 868724 h 868724"/>
                <a:gd name="connsiteX4" fmla="*/ 46325 w 2688725"/>
                <a:gd name="connsiteY4" fmla="*/ 772560 h 868724"/>
                <a:gd name="connsiteX5" fmla="*/ 1344362 w 2688725"/>
                <a:gd name="connsiteY5" fmla="*/ 0 h 86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88725" h="868724">
                  <a:moveTo>
                    <a:pt x="1344362" y="0"/>
                  </a:moveTo>
                  <a:cubicBezTo>
                    <a:pt x="1904872" y="0"/>
                    <a:pt x="2392420" y="312389"/>
                    <a:pt x="2642400" y="772560"/>
                  </a:cubicBezTo>
                  <a:lnTo>
                    <a:pt x="2688725" y="868724"/>
                  </a:lnTo>
                  <a:lnTo>
                    <a:pt x="0" y="868724"/>
                  </a:lnTo>
                  <a:lnTo>
                    <a:pt x="46325" y="772560"/>
                  </a:lnTo>
                  <a:cubicBezTo>
                    <a:pt x="296305" y="312389"/>
                    <a:pt x="783852" y="0"/>
                    <a:pt x="1344362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015"/>
            </a:p>
          </p:txBody>
        </p:sp>
        <p:sp>
          <p:nvSpPr>
            <p:cNvPr id="32" name="椭圆 31"/>
            <p:cNvSpPr/>
            <p:nvPr/>
          </p:nvSpPr>
          <p:spPr>
            <a:xfrm>
              <a:off x="2124668" y="4191023"/>
              <a:ext cx="167505" cy="167505"/>
            </a:xfrm>
            <a:prstGeom prst="ellipse">
              <a:avLst/>
            </a:prstGeom>
            <a:solidFill>
              <a:schemeClr val="accent1"/>
            </a:solidFill>
            <a:ln w="222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33" name="椭圆 32"/>
            <p:cNvSpPr/>
            <p:nvPr/>
          </p:nvSpPr>
          <p:spPr>
            <a:xfrm>
              <a:off x="3108422" y="3237896"/>
              <a:ext cx="167505" cy="167505"/>
            </a:xfrm>
            <a:prstGeom prst="ellipse">
              <a:avLst/>
            </a:prstGeom>
            <a:solidFill>
              <a:schemeClr val="accent1"/>
            </a:solidFill>
            <a:ln w="222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34" name="椭圆 33"/>
            <p:cNvSpPr/>
            <p:nvPr/>
          </p:nvSpPr>
          <p:spPr>
            <a:xfrm>
              <a:off x="4488247" y="2884013"/>
              <a:ext cx="167505" cy="167505"/>
            </a:xfrm>
            <a:prstGeom prst="ellipse">
              <a:avLst/>
            </a:prstGeom>
            <a:solidFill>
              <a:schemeClr val="accent1"/>
            </a:solidFill>
            <a:ln w="222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35" name="椭圆 34"/>
            <p:cNvSpPr/>
            <p:nvPr/>
          </p:nvSpPr>
          <p:spPr>
            <a:xfrm flipH="1">
              <a:off x="6851827" y="4191023"/>
              <a:ext cx="167505" cy="167505"/>
            </a:xfrm>
            <a:prstGeom prst="ellipse">
              <a:avLst/>
            </a:prstGeom>
            <a:solidFill>
              <a:schemeClr val="accent1"/>
            </a:solidFill>
            <a:ln w="222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36" name="椭圆 35"/>
            <p:cNvSpPr/>
            <p:nvPr/>
          </p:nvSpPr>
          <p:spPr>
            <a:xfrm flipH="1">
              <a:off x="5868073" y="3237896"/>
              <a:ext cx="167505" cy="167505"/>
            </a:xfrm>
            <a:prstGeom prst="ellipse">
              <a:avLst/>
            </a:prstGeom>
            <a:solidFill>
              <a:schemeClr val="accent1"/>
            </a:solidFill>
            <a:ln w="222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</p:grpSp>
      <p:sp>
        <p:nvSpPr>
          <p:cNvPr id="37" name="矩形 36"/>
          <p:cNvSpPr/>
          <p:nvPr/>
        </p:nvSpPr>
        <p:spPr>
          <a:xfrm>
            <a:off x="394295" y="2951293"/>
            <a:ext cx="227638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sz="1600" b="1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强化学习模型</a:t>
            </a:r>
            <a:endParaRPr lang="zh-CN" altLang="en-US" sz="1600" b="1" err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306430" y="2632668"/>
            <a:ext cx="45212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01</a:t>
            </a:r>
            <a:endParaRPr lang="en-US" altLang="zh-CN" sz="1600" b="1">
              <a:solidFill>
                <a:schemeClr val="accent1"/>
              </a:solidFill>
              <a:latin typeface="+mj-ea"/>
              <a:ea typeface="+mj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808316" y="1914344"/>
            <a:ext cx="227638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lnSpc>
                <a:spcPct val="150000"/>
              </a:lnSpc>
              <a:buClr>
                <a:srgbClr val="E7E6E6">
                  <a:lumMod val="10000"/>
                </a:srgbClr>
              </a:buClr>
              <a:buSzTx/>
              <a:buFontTx/>
            </a:pPr>
            <a:r>
              <a:rPr lang="zh-CN" altLang="en-US" sz="1600" b="1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马尔可夫决策过程</a:t>
            </a:r>
            <a:endParaRPr lang="zh-CN" altLang="en-US" sz="1600" b="1" err="1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720451" y="1595719"/>
            <a:ext cx="45212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02</a:t>
            </a:r>
            <a:endParaRPr lang="en-US" altLang="zh-CN" sz="1600" b="1">
              <a:solidFill>
                <a:schemeClr val="accent1"/>
              </a:solidFill>
              <a:latin typeface="+mj-ea"/>
              <a:ea typeface="+mj-ea"/>
              <a:sym typeface="+mn-lt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433806" y="1028254"/>
            <a:ext cx="227638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lnSpc>
                <a:spcPct val="150000"/>
              </a:lnSpc>
              <a:buClr>
                <a:srgbClr val="E7E6E6">
                  <a:lumMod val="10000"/>
                </a:srgbClr>
              </a:buClr>
              <a:buSzTx/>
              <a:buFontTx/>
            </a:pPr>
            <a:r>
              <a:rPr lang="zh-CN" altLang="en-US" sz="1600" b="1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贝尔曼方程</a:t>
            </a:r>
            <a:endParaRPr lang="zh-CN" altLang="en-US" sz="1600" b="1" err="1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345941" y="709629"/>
            <a:ext cx="45212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03</a:t>
            </a:r>
            <a:endParaRPr lang="zh-CN" altLang="en-US" sz="1600" b="1">
              <a:solidFill>
                <a:schemeClr val="accent1"/>
              </a:solidFill>
              <a:latin typeface="+mj-ea"/>
              <a:ea typeface="+mj-ea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102350" y="1914344"/>
            <a:ext cx="227638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sz="1600" b="1" err="1">
                <a:solidFill>
                  <a:schemeClr val="tx1"/>
                </a:solidFill>
                <a:latin typeface="+mn-ea"/>
                <a:cs typeface="+mn-ea"/>
                <a:sym typeface="+mn-lt"/>
              </a:rPr>
              <a:t>贝尔曼最优方程</a:t>
            </a:r>
            <a:endParaRPr lang="zh-CN" altLang="en-US" sz="1600" b="1" err="1">
              <a:solidFill>
                <a:schemeClr val="tx1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014484" y="1595719"/>
            <a:ext cx="45212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04</a:t>
            </a:r>
            <a:endParaRPr lang="zh-CN" altLang="en-US" sz="1600" b="1">
              <a:solidFill>
                <a:schemeClr val="accent1"/>
              </a:solidFill>
              <a:latin typeface="+mj-ea"/>
              <a:ea typeface="+mj-ea"/>
              <a:sym typeface="+mn-lt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651713" y="2951293"/>
            <a:ext cx="227638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sz="1600" b="1" err="1">
                <a:solidFill>
                  <a:schemeClr val="tx1"/>
                </a:solidFill>
                <a:latin typeface="+mn-ea"/>
                <a:cs typeface="+mn-ea"/>
                <a:sym typeface="+mn-lt"/>
              </a:rPr>
              <a:t>策略迭代算法</a:t>
            </a:r>
            <a:endParaRPr lang="zh-CN" altLang="en-US" sz="1600" b="1" err="1">
              <a:solidFill>
                <a:schemeClr val="tx1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563848" y="2632668"/>
            <a:ext cx="45212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05</a:t>
            </a:r>
            <a:endParaRPr lang="zh-CN" altLang="en-US" sz="1600" b="1">
              <a:solidFill>
                <a:schemeClr val="accent1"/>
              </a:solidFill>
              <a:latin typeface="+mj-ea"/>
              <a:ea typeface="+mj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403">
        <p159:morph option="byObject"/>
      </p:transition>
    </mc:Choice>
    <mc:Fallback>
      <p:transition spd="slow" advTm="2403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0998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算法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原理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pic>
        <p:nvPicPr>
          <p:cNvPr id="1057365734" name="图片 1" descr="图示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85975" y="767080"/>
            <a:ext cx="4771390" cy="336169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727450" y="241300"/>
            <a:ext cx="14884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强化学习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792095" y="4172585"/>
            <a:ext cx="4639310" cy="5740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lvl="1" indent="457200" fontAlgn="auto"/>
            <a:r>
              <a:rPr lang="zh-CN" altLang="en-US" sz="1400"/>
              <a:t>强化学习主体框架</a:t>
            </a:r>
            <a:endParaRPr lang="zh-CN" altLang="en-US" sz="1400"/>
          </a:p>
          <a:p>
            <a:pPr indent="0" fontAlgn="auto"/>
            <a:r>
              <a:rPr lang="en-US" altLang="zh-CN" sz="1400"/>
              <a:t>          </a:t>
            </a:r>
            <a:r>
              <a:rPr lang="zh-CN" altLang="en-US" sz="1400"/>
              <a:t>分为两部分：环境</a:t>
            </a:r>
            <a:r>
              <a:rPr lang="zh-CN" altLang="en-US" sz="1400"/>
              <a:t>和Agent</a:t>
            </a:r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3498">
        <p159:morph option="byObject"/>
      </p:transition>
    </mc:Choice>
    <mc:Fallback>
      <p:transition spd="slow" advTm="13498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0998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算法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原理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pic>
        <p:nvPicPr>
          <p:cNvPr id="1348759821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43000" y="1306830"/>
            <a:ext cx="2258060" cy="2246630"/>
          </a:xfrm>
          <a:prstGeom prst="rect">
            <a:avLst/>
          </a:prstGeom>
        </p:spPr>
      </p:pic>
      <p:pic>
        <p:nvPicPr>
          <p:cNvPr id="1511971551" name="图片 1" descr="图表, 箱线图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93945" y="1306830"/>
            <a:ext cx="2352675" cy="218694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1754505" y="3674745"/>
            <a:ext cx="1457325" cy="363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00"/>
              <a:t>网格环境模型	</a:t>
            </a:r>
            <a:endParaRPr lang="zh-CN" altLang="en-US" sz="1400"/>
          </a:p>
        </p:txBody>
      </p:sp>
      <p:sp>
        <p:nvSpPr>
          <p:cNvPr id="14" name="文本框 13"/>
          <p:cNvSpPr txBox="1"/>
          <p:nvPr/>
        </p:nvSpPr>
        <p:spPr>
          <a:xfrm>
            <a:off x="5507355" y="3674745"/>
            <a:ext cx="158178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动作转移空间</a:t>
            </a:r>
            <a:endParaRPr lang="zh-CN" altLang="en-US" sz="1400"/>
          </a:p>
        </p:txBody>
      </p:sp>
      <p:sp>
        <p:nvSpPr>
          <p:cNvPr id="15" name="文本框 14"/>
          <p:cNvSpPr txBox="1"/>
          <p:nvPr/>
        </p:nvSpPr>
        <p:spPr>
          <a:xfrm>
            <a:off x="4511040" y="4162425"/>
            <a:ext cx="357441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动作转移空间代表状态如何进行移动</a:t>
            </a:r>
            <a:endParaRPr lang="zh-CN" altLang="en-US" sz="1600"/>
          </a:p>
        </p:txBody>
      </p:sp>
      <p:sp>
        <p:nvSpPr>
          <p:cNvPr id="16" name="文本框 15"/>
          <p:cNvSpPr txBox="1"/>
          <p:nvPr/>
        </p:nvSpPr>
        <p:spPr>
          <a:xfrm>
            <a:off x="955040" y="766445"/>
            <a:ext cx="159448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/>
              <a:t>1.</a:t>
            </a:r>
            <a:r>
              <a:rPr lang="zh-CN" altLang="en-US" sz="1600"/>
              <a:t>状态和动作</a:t>
            </a:r>
            <a:endParaRPr lang="zh-CN" altLang="en-US" sz="1600"/>
          </a:p>
        </p:txBody>
      </p:sp>
      <p:sp>
        <p:nvSpPr>
          <p:cNvPr id="2" name="文本框 1"/>
          <p:cNvSpPr txBox="1"/>
          <p:nvPr/>
        </p:nvSpPr>
        <p:spPr>
          <a:xfrm>
            <a:off x="475615" y="4159250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网格环境模型用来代表强化学习的环境</a:t>
            </a:r>
            <a:endParaRPr lang="zh-CN" altLang="en-US" sz="160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9598">
        <p159:morph option="byObject"/>
      </p:transition>
    </mc:Choice>
    <mc:Fallback>
      <p:transition spd="slow" advTm="29598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0998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算法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原理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pic>
        <p:nvPicPr>
          <p:cNvPr id="224715747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370" r="74922"/>
          <a:stretch>
            <a:fillRect/>
          </a:stretch>
        </p:blipFill>
        <p:spPr>
          <a:xfrm>
            <a:off x="1865630" y="720725"/>
            <a:ext cx="1797685" cy="1851025"/>
          </a:xfrm>
          <a:prstGeom prst="rect">
            <a:avLst/>
          </a:prstGeom>
        </p:spPr>
      </p:pic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420870" y="868680"/>
          <a:ext cx="1021715" cy="1424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838200" imgH="1168400" progId="Equation.KSEE3">
                  <p:embed/>
                </p:oleObj>
              </mc:Choice>
              <mc:Fallback>
                <p:oleObj name="" r:id="rId3" imgW="838200" imgH="11684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20870" y="868680"/>
                        <a:ext cx="1021715" cy="1424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5899150" y="1240790"/>
            <a:ext cx="24123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策略</a:t>
            </a:r>
            <a:r>
              <a:rPr lang="en-US" altLang="zh-CN" sz="1400"/>
              <a:t>   </a:t>
            </a:r>
            <a:r>
              <a:rPr lang="zh-CN" altLang="en-US" sz="1400"/>
              <a:t>是Agent在每个状态下应该采取哪些动作的规则</a:t>
            </a:r>
            <a:endParaRPr lang="zh-CN" altLang="en-US" sz="1400"/>
          </a:p>
        </p:txBody>
      </p:sp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45555" y="1325245"/>
          <a:ext cx="179705" cy="179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5" imgW="139700" imgH="139700" progId="Equation.KSEE3">
                  <p:embed/>
                </p:oleObj>
              </mc:Choice>
              <mc:Fallback>
                <p:oleObj name="" r:id="rId5" imgW="139700" imgH="1397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45555" y="1325245"/>
                        <a:ext cx="179705" cy="179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673100" y="629920"/>
            <a:ext cx="15728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/>
              <a:t>2.</a:t>
            </a:r>
            <a:r>
              <a:rPr lang="zh-CN" altLang="en-US" sz="1600"/>
              <a:t>策略</a:t>
            </a:r>
            <a:endParaRPr lang="zh-CN" altLang="en-US" sz="1600"/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673100" y="2802255"/>
            <a:ext cx="22078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/>
              <a:t>3.</a:t>
            </a:r>
            <a:r>
              <a:rPr lang="zh-CN" altLang="en-US" sz="1600"/>
              <a:t>奖励函数（</a:t>
            </a:r>
            <a:r>
              <a:rPr lang="zh-CN" altLang="en-US" sz="1600">
                <a:sym typeface="+mn-ea"/>
              </a:rPr>
              <a:t>Reward）</a:t>
            </a:r>
            <a:endParaRPr lang="zh-CN" altLang="en-US" sz="1600"/>
          </a:p>
        </p:txBody>
      </p:sp>
      <p:sp>
        <p:nvSpPr>
          <p:cNvPr id="19" name="文本框 18"/>
          <p:cNvSpPr txBox="1"/>
          <p:nvPr/>
        </p:nvSpPr>
        <p:spPr>
          <a:xfrm>
            <a:off x="927100" y="3437890"/>
            <a:ext cx="7207885" cy="13214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/>
            <a:r>
              <a:rPr lang="zh-CN" altLang="en-US" sz="1400"/>
              <a:t>在强化学习中，奖励函数是指在Agent执行一个动作后，从环境中获得的即时反馈。</a:t>
            </a:r>
            <a:endParaRPr lang="zh-CN" altLang="en-US" sz="1400"/>
          </a:p>
          <a:p>
            <a:pPr indent="457200"/>
            <a:r>
              <a:rPr lang="zh-CN" altLang="en-US" sz="1400"/>
              <a:t>奖励是在采取行动后立即获得的奖励，所以并不能通过选择具有最大奖励的动作来找到好的策略，为了确定一个好的策略，要考虑长期获得的总奖励。</a:t>
            </a:r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4365">
        <p159:morph option="byObject"/>
      </p:transition>
    </mc:Choice>
    <mc:Fallback>
      <p:transition spd="slow" advTm="24365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0998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算法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原理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pic>
        <p:nvPicPr>
          <p:cNvPr id="1636869441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6745" y="1519873"/>
            <a:ext cx="3806190" cy="177990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278130" y="609600"/>
            <a:ext cx="18872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/>
              <a:t>4.</a:t>
            </a:r>
            <a:r>
              <a:rPr lang="zh-CN" altLang="en-US" sz="1600"/>
              <a:t>轨迹和回报</a:t>
            </a:r>
            <a:r>
              <a:rPr lang="zh-CN" altLang="en-US" sz="1600"/>
              <a:t>函数</a:t>
            </a:r>
            <a:endParaRPr lang="zh-CN" altLang="en-US" sz="1600"/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219710" y="3784600"/>
            <a:ext cx="166941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（a）轨迹的回报</a:t>
            </a:r>
            <a:r>
              <a:rPr lang="en-US" altLang="zh-CN" sz="1600"/>
              <a:t>   </a:t>
            </a:r>
            <a:endParaRPr lang="en-US" altLang="zh-CN" sz="1600"/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2165350" y="3859530"/>
          <a:ext cx="2352040" cy="262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6" imgW="1587500" imgH="177165" progId="Equation.KSEE3">
                  <p:embed/>
                </p:oleObj>
              </mc:Choice>
              <mc:Fallback>
                <p:oleObj name="" r:id="rId6" imgW="1587500" imgH="177165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65350" y="3859530"/>
                        <a:ext cx="2352040" cy="2622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2165350" y="4218940"/>
          <a:ext cx="2258695" cy="255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1562100" imgH="177165" progId="Equation.KSEE3">
                  <p:embed/>
                </p:oleObj>
              </mc:Choice>
              <mc:Fallback>
                <p:oleObj name="" r:id="rId9" imgW="1562100" imgH="177165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65350" y="4218940"/>
                        <a:ext cx="2258695" cy="255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>
            <p:custDataLst>
              <p:tags r:id="rId11"/>
            </p:custDataLst>
          </p:nvPr>
        </p:nvSpPr>
        <p:spPr>
          <a:xfrm>
            <a:off x="220345" y="4218940"/>
            <a:ext cx="173101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b</a:t>
            </a:r>
            <a:r>
              <a:rPr lang="zh-CN" altLang="en-US" sz="1400">
                <a:sym typeface="+mn-ea"/>
              </a:rPr>
              <a:t>）轨迹的回报</a:t>
            </a:r>
            <a:endParaRPr lang="zh-CN" altLang="en-US" sz="1400"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0" y="3300095"/>
            <a:ext cx="4831715" cy="317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200"/>
              <a:t>   	</a:t>
            </a:r>
            <a:r>
              <a:rPr lang="zh-CN" altLang="en-US" sz="1200"/>
              <a:t>（a）起点到终点的路径 </a:t>
            </a:r>
            <a:r>
              <a:rPr lang="en-US" altLang="zh-CN" sz="1200"/>
              <a:t>    </a:t>
            </a:r>
            <a:r>
              <a:rPr lang="zh-CN" altLang="en-US" sz="1200"/>
              <a:t>（b）进入了障碍到终点的路径</a:t>
            </a:r>
            <a:r>
              <a:rPr lang="zh-CN" altLang="en-US" sz="2000"/>
              <a:t>	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1868805" y="1056640"/>
            <a:ext cx="156781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有限长度轨迹</a:t>
            </a:r>
            <a:endParaRPr lang="zh-CN" altLang="en-US" sz="1400"/>
          </a:p>
        </p:txBody>
      </p:sp>
      <p:sp>
        <p:nvSpPr>
          <p:cNvPr id="2" name="文本框 1"/>
          <p:cNvSpPr txBox="1"/>
          <p:nvPr>
            <p:custDataLst>
              <p:tags r:id="rId13"/>
            </p:custDataLst>
          </p:nvPr>
        </p:nvSpPr>
        <p:spPr>
          <a:xfrm>
            <a:off x="6334760" y="1050290"/>
            <a:ext cx="138303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无限长度轨迹</a:t>
            </a:r>
            <a:endParaRPr lang="zh-CN" altLang="en-US" sz="1400"/>
          </a:p>
        </p:txBody>
      </p: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4"/>
            </p:custDataLst>
          </p:nvPr>
        </p:nvGraphicFramePr>
        <p:xfrm>
          <a:off x="5358130" y="3086100"/>
          <a:ext cx="3072130" cy="253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15" imgW="2145665" imgH="177165" progId="Equation.KSEE3">
                  <p:embed/>
                </p:oleObj>
              </mc:Choice>
              <mc:Fallback>
                <p:oleObj name="" r:id="rId15" imgW="2145665" imgH="177165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358130" y="3086100"/>
                        <a:ext cx="3072130" cy="253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>
            <p:custDataLst>
              <p:tags r:id="rId17"/>
            </p:custDataLst>
          </p:nvPr>
        </p:nvSpPr>
        <p:spPr>
          <a:xfrm>
            <a:off x="5277485" y="1454150"/>
            <a:ext cx="36449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根据图（</a:t>
            </a:r>
            <a:r>
              <a:rPr lang="en-US" altLang="zh-CN" sz="1400"/>
              <a:t>a</a:t>
            </a:r>
            <a:r>
              <a:rPr lang="zh-CN" altLang="en-US" sz="1400"/>
              <a:t>），Agen在到达s9后继续移动，可得到无限长轨迹</a:t>
            </a:r>
            <a:r>
              <a:rPr lang="zh-CN" altLang="en-US" sz="1400"/>
              <a:t>如下：</a:t>
            </a:r>
            <a:endParaRPr lang="zh-CN" altLang="en-US" sz="1400"/>
          </a:p>
        </p:txBody>
      </p:sp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8"/>
            </p:custDataLst>
          </p:nvPr>
        </p:nvGraphicFramePr>
        <p:xfrm>
          <a:off x="5358130" y="2037715"/>
          <a:ext cx="3606800" cy="596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19" imgW="2133600" imgH="381000" progId="Equation.KSEE3">
                  <p:embed/>
                </p:oleObj>
              </mc:Choice>
              <mc:Fallback>
                <p:oleObj name="" r:id="rId19" imgW="2133600" imgH="381000" progId="Equation.KSEE3">
                  <p:embed/>
                  <p:pic>
                    <p:nvPicPr>
                      <p:cNvPr id="0" name="图片 205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358130" y="2037715"/>
                        <a:ext cx="3606800" cy="596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>
            <p:custDataLst>
              <p:tags r:id="rId21"/>
            </p:custDataLst>
          </p:nvPr>
        </p:nvSpPr>
        <p:spPr>
          <a:xfrm>
            <a:off x="5277485" y="2695575"/>
            <a:ext cx="199517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根据上述轨迹可得回报</a:t>
            </a:r>
            <a:r>
              <a:rPr lang="en-US" altLang="zh-CN" sz="1600"/>
              <a:t>   </a:t>
            </a:r>
            <a:endParaRPr lang="en-US" altLang="zh-CN" sz="1600"/>
          </a:p>
        </p:txBody>
      </p:sp>
      <p:graphicFrame>
        <p:nvGraphicFramePr>
          <p:cNvPr id="27" name="对象 2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2"/>
            </p:custDataLst>
          </p:nvPr>
        </p:nvGraphicFramePr>
        <p:xfrm>
          <a:off x="4984115" y="3935095"/>
          <a:ext cx="4091940" cy="283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" r:id="rId23" imgW="3302000" imgH="228600" progId="Equation.KSEE3">
                  <p:embed/>
                </p:oleObj>
              </mc:Choice>
              <mc:Fallback>
                <p:oleObj name="" r:id="rId23" imgW="3302000" imgH="2286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984115" y="3935095"/>
                        <a:ext cx="4091940" cy="2832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/>
          <p:cNvSpPr txBox="1"/>
          <p:nvPr>
            <p:custDataLst>
              <p:tags r:id="rId25"/>
            </p:custDataLst>
          </p:nvPr>
        </p:nvSpPr>
        <p:spPr>
          <a:xfrm>
            <a:off x="4984115" y="3423285"/>
            <a:ext cx="40436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引入折扣因子</a:t>
            </a:r>
            <a:r>
              <a:rPr lang="en-US" altLang="zh-CN" sz="1400"/>
              <a:t>            </a:t>
            </a:r>
            <a:r>
              <a:rPr lang="zh-CN" altLang="en-US" sz="1400"/>
              <a:t>可解决无限长轨迹回报问题，</a:t>
            </a:r>
            <a:r>
              <a:rPr lang="zh-CN" altLang="en-US" sz="1400"/>
              <a:t>如下</a:t>
            </a:r>
            <a:endParaRPr lang="zh-CN" altLang="en-US" sz="1400"/>
          </a:p>
        </p:txBody>
      </p:sp>
      <p:graphicFrame>
        <p:nvGraphicFramePr>
          <p:cNvPr id="30" name="对象 29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6"/>
            </p:custDataLst>
          </p:nvPr>
        </p:nvGraphicFramePr>
        <p:xfrm>
          <a:off x="6148070" y="3463290"/>
          <a:ext cx="594360" cy="216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" r:id="rId27" imgW="558800" imgH="203200" progId="Equation.KSEE3">
                  <p:embed/>
                </p:oleObj>
              </mc:Choice>
              <mc:Fallback>
                <p:oleObj name="" r:id="rId27" imgW="558800" imgH="203200" progId="Equation.KSEE3">
                  <p:embed/>
                  <p:pic>
                    <p:nvPicPr>
                      <p:cNvPr id="0" name="图片 2052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148070" y="3463290"/>
                        <a:ext cx="594360" cy="2165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31"/>
          <p:cNvSpPr txBox="1"/>
          <p:nvPr>
            <p:custDataLst>
              <p:tags r:id="rId29"/>
            </p:custDataLst>
          </p:nvPr>
        </p:nvSpPr>
        <p:spPr>
          <a:xfrm>
            <a:off x="5045710" y="4335780"/>
            <a:ext cx="38766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通过控制折扣因子的大小可使智能体更注重未来的奖励或是当下</a:t>
            </a:r>
            <a:r>
              <a:rPr lang="zh-CN" altLang="en-US" sz="1400"/>
              <a:t>奖励</a:t>
            </a:r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5426">
        <p159:morph option="byObject"/>
      </p:transition>
    </mc:Choice>
    <mc:Fallback>
      <p:transition spd="slow" advTm="45426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0998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算法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原理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21945" y="629920"/>
            <a:ext cx="20618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马尔可夫决策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过程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00710" y="1167765"/>
            <a:ext cx="7865110" cy="16363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S：环境状态的集合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A：Agent 可采取的动作集合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T：状态转移函数，用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描述在当前状态：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下，Agent 执行动作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后，转移到状态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的概率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R：奖赏函数，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表示在状态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 Agent 执行动作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后所获得的奖赏值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：衰减因子，越接近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对于未来奖励的权重越大，越接近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对近期奖励的权重越大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5" name="对象 2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661035" y="2247900"/>
          <a:ext cx="188595" cy="245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" r:id="rId4" imgW="127000" imgH="165100" progId="Equation.KSEE3">
                  <p:embed/>
                </p:oleObj>
              </mc:Choice>
              <mc:Fallback>
                <p:oleObj name="" r:id="rId4" imgW="127000" imgH="165100" progId="Equation.KSEE3">
                  <p:embed/>
                  <p:pic>
                    <p:nvPicPr>
                      <p:cNvPr id="0" name="图片 205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1035" y="2247900"/>
                        <a:ext cx="188595" cy="2451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83790" y="1572895"/>
          <a:ext cx="828675" cy="313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r:id="rId6" imgW="673100" imgH="254000" progId="Equation.KSEE3">
                  <p:embed/>
                </p:oleObj>
              </mc:Choice>
              <mc:Fallback>
                <p:oleObj name="" r:id="rId6" imgW="673100" imgH="2540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83790" y="1572895"/>
                        <a:ext cx="828675" cy="313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91050" y="1640840"/>
          <a:ext cx="457835" cy="245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8" imgW="330200" imgH="177165" progId="Equation.KSEE3">
                  <p:embed/>
                </p:oleObj>
              </mc:Choice>
              <mc:Fallback>
                <p:oleObj name="" r:id="rId8" imgW="330200" imgH="177165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91050" y="1640840"/>
                        <a:ext cx="457835" cy="245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713220" y="1630680"/>
          <a:ext cx="549910" cy="255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0" imgW="381000" imgH="177165" progId="Equation.KSEE3">
                  <p:embed/>
                </p:oleObj>
              </mc:Choice>
              <mc:Fallback>
                <p:oleObj name="" r:id="rId10" imgW="381000" imgH="177165" progId="Equation.KSEE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713220" y="1630680"/>
                        <a:ext cx="549910" cy="255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99820" y="1824355"/>
          <a:ext cx="505460" cy="236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2" imgW="381000" imgH="177165" progId="Equation.KSEE3">
                  <p:embed/>
                </p:oleObj>
              </mc:Choice>
              <mc:Fallback>
                <p:oleObj name="" r:id="rId12" imgW="381000" imgH="177165" progId="Equation.KSEE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99820" y="1824355"/>
                        <a:ext cx="505460" cy="236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766570" y="2039620"/>
          <a:ext cx="588645" cy="262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4" imgW="457200" imgH="203200" progId="Equation.KSEE3">
                  <p:embed/>
                </p:oleObj>
              </mc:Choice>
              <mc:Fallback>
                <p:oleObj name="" r:id="rId14" imgW="457200" imgH="203200" progId="Equation.KSEE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766570" y="2039620"/>
                        <a:ext cx="588645" cy="2622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3253105" y="2098040"/>
          <a:ext cx="167640" cy="203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7" imgW="114300" imgH="139700" progId="Equation.KSEE3">
                  <p:embed/>
                </p:oleObj>
              </mc:Choice>
              <mc:Fallback>
                <p:oleObj name="" r:id="rId17" imgW="114300" imgH="1397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53105" y="2098040"/>
                        <a:ext cx="167640" cy="203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9"/>
            </p:custDataLst>
          </p:nvPr>
        </p:nvGraphicFramePr>
        <p:xfrm>
          <a:off x="4893945" y="2080895"/>
          <a:ext cx="200660" cy="220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0" imgW="127000" imgH="139700" progId="Equation.KSEE3">
                  <p:embed/>
                </p:oleObj>
              </mc:Choice>
              <mc:Fallback>
                <p:oleObj name="" r:id="rId20" imgW="127000" imgH="139700" progId="Equation.KSEE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893945" y="2080895"/>
                        <a:ext cx="200660" cy="2209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>
            <p:custDataLst>
              <p:tags r:id="rId22"/>
            </p:custDataLst>
          </p:nvPr>
        </p:nvSpPr>
        <p:spPr>
          <a:xfrm>
            <a:off x="405765" y="2884805"/>
            <a:ext cx="20618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贝尔曼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方程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76885" y="3374390"/>
            <a:ext cx="788479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贝尔曼方程描述了当前状态的价值与未来状态价值之间的关系，可以用来计算状态价值和动作价值。</a:t>
            </a:r>
            <a:endParaRPr lang="zh-CN" altLang="en-US" sz="1400"/>
          </a:p>
        </p:txBody>
      </p:sp>
      <p:graphicFrame>
        <p:nvGraphicFramePr>
          <p:cNvPr id="26" name="对象 2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0710" y="3999230"/>
          <a:ext cx="5264785" cy="605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23" imgW="3314700" imgH="381000" progId="Equation.KSEE3">
                  <p:embed/>
                </p:oleObj>
              </mc:Choice>
              <mc:Fallback>
                <p:oleObj name="" r:id="rId23" imgW="3314700" imgH="381000" progId="Equation.KSEE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00710" y="3999230"/>
                        <a:ext cx="5264785" cy="6051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5745">
        <p159:morph option="byObject"/>
      </p:transition>
    </mc:Choice>
    <mc:Fallback>
      <p:transition spd="slow" advTm="35745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0998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算法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原理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832610" y="529590"/>
          <a:ext cx="4645025" cy="709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2857500" imgH="457200" progId="Equation.KSEE3">
                  <p:embed/>
                </p:oleObj>
              </mc:Choice>
              <mc:Fallback>
                <p:oleObj name="" r:id="rId1" imgW="2857500" imgH="457200" progId="Equation.KSEE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32610" y="529590"/>
                        <a:ext cx="4645025" cy="709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>
            <p:custDataLst>
              <p:tags r:id="rId3"/>
            </p:custDataLst>
          </p:nvPr>
        </p:nvSpPr>
        <p:spPr>
          <a:xfrm>
            <a:off x="554990" y="529590"/>
            <a:ext cx="156781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行为值</a:t>
            </a:r>
            <a:r>
              <a:rPr lang="zh-CN" altLang="en-US" sz="1400"/>
              <a:t>函数</a:t>
            </a:r>
            <a:endParaRPr lang="zh-CN" altLang="en-US" sz="1400"/>
          </a:p>
        </p:txBody>
      </p:sp>
      <p:sp>
        <p:nvSpPr>
          <p:cNvPr id="32" name="文本框 31"/>
          <p:cNvSpPr txBox="1"/>
          <p:nvPr/>
        </p:nvSpPr>
        <p:spPr>
          <a:xfrm>
            <a:off x="6272530" y="1087755"/>
            <a:ext cx="267906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行为值可以用于生成最优策略</a:t>
            </a:r>
            <a:endParaRPr lang="zh-CN" altLang="en-US" sz="1400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500380" y="1532255"/>
            <a:ext cx="20618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贝尔曼最优方程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500380" y="2030730"/>
            <a:ext cx="625157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策略迭代算法的最终目标是寻求最优策略</a:t>
            </a:r>
            <a:r>
              <a:rPr lang="en-US" altLang="zh-CN" sz="1400"/>
              <a:t>,</a:t>
            </a:r>
            <a:r>
              <a:rPr lang="zh-CN" altLang="en-US" sz="1400"/>
              <a:t>贝尔曼最优方程可获得</a:t>
            </a:r>
            <a:r>
              <a:rPr lang="zh-CN" altLang="en-US" sz="1400"/>
              <a:t>最优策略。</a:t>
            </a:r>
            <a:endParaRPr lang="zh-CN" altLang="en-US" sz="1400"/>
          </a:p>
        </p:txBody>
      </p:sp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554990" y="2449830"/>
          <a:ext cx="528256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r:id="rId7" imgW="3467100" imgH="660400" progId="Equation.KSEE3">
                  <p:embed/>
                </p:oleObj>
              </mc:Choice>
              <mc:Fallback>
                <p:oleObj name="" r:id="rId7" imgW="3467100" imgH="660400" progId="Equation.KSEE3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4990" y="2449830"/>
                        <a:ext cx="5282565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500380" y="3645535"/>
            <a:ext cx="75025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贝尔曼最优方程是一个非线性方程，具有收缩特性。基于这个特性，应用收缩映射定理来求解这个方程。它的解是最优状态值，是任何策略可以达到的最大状态值。</a:t>
            </a:r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2190">
        <p159:morph option="byObject"/>
      </p:transition>
    </mc:Choice>
    <mc:Fallback>
      <p:transition spd="slow" advTm="5219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0998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算法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原理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464820" y="836295"/>
            <a:ext cx="20618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迭代算法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49275" y="1842135"/>
          <a:ext cx="368046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" r:id="rId2" imgW="2019300" imgH="254000" progId="Equation.KSEE3">
                  <p:embed/>
                </p:oleObj>
              </mc:Choice>
              <mc:Fallback>
                <p:oleObj name="" r:id="rId2" imgW="2019300" imgH="254000" progId="Equation.KSEE3">
                  <p:embed/>
                  <p:pic>
                    <p:nvPicPr>
                      <p:cNvPr id="0" name="图片 409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9275" y="1842135"/>
                        <a:ext cx="3680460" cy="447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>
            <p:custDataLst>
              <p:tags r:id="rId4"/>
            </p:custDataLst>
          </p:nvPr>
        </p:nvSpPr>
        <p:spPr>
          <a:xfrm>
            <a:off x="549275" y="1333500"/>
            <a:ext cx="156781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/>
              <a:t>1.</a:t>
            </a:r>
            <a:r>
              <a:rPr lang="zh-CN" altLang="en-US" sz="1400"/>
              <a:t>策略</a:t>
            </a:r>
            <a:r>
              <a:rPr lang="zh-CN" altLang="en-US" sz="1400"/>
              <a:t>评估</a:t>
            </a:r>
            <a:endParaRPr lang="zh-CN" altLang="en-US" sz="1400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549275" y="3142615"/>
            <a:ext cx="156781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/>
              <a:t>2.</a:t>
            </a:r>
            <a:r>
              <a:rPr lang="zh-CN" altLang="en-US" sz="1400"/>
              <a:t>策略</a:t>
            </a:r>
            <a:r>
              <a:rPr lang="zh-CN" altLang="en-US" sz="1400"/>
              <a:t>改进</a:t>
            </a:r>
            <a:endParaRPr lang="zh-CN" altLang="en-US" sz="1400"/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49275" y="3449320"/>
          <a:ext cx="630110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6" imgW="4279900" imgH="584200" progId="Equation.KSEE3">
                  <p:embed/>
                </p:oleObj>
              </mc:Choice>
              <mc:Fallback>
                <p:oleObj name="" r:id="rId6" imgW="4279900" imgH="584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9275" y="3449320"/>
                        <a:ext cx="6301105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49275" y="4156710"/>
          <a:ext cx="2421890" cy="69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8" imgW="1688465" imgH="482600" progId="Equation.KSEE3">
                  <p:embed/>
                </p:oleObj>
              </mc:Choice>
              <mc:Fallback>
                <p:oleObj name="" r:id="rId8" imgW="1688465" imgH="482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9275" y="4156710"/>
                        <a:ext cx="2421890" cy="692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8680" t="10526" r="3589" b="16284"/>
          <a:stretch>
            <a:fillRect/>
          </a:stretch>
        </p:blipFill>
        <p:spPr>
          <a:xfrm>
            <a:off x="4513580" y="1173480"/>
            <a:ext cx="4528185" cy="19513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9196">
        <p159:morph option="byObject"/>
      </p:transition>
    </mc:Choice>
    <mc:Fallback>
      <p:transition spd="slow" advTm="29196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 bwMode="auto">
          <a:xfrm>
            <a:off x="3513493" y="4687500"/>
            <a:ext cx="211701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100">
                <a:solidFill>
                  <a:schemeClr val="bg1"/>
                </a:solidFill>
                <a:latin typeface="+mj-ea"/>
                <a:ea typeface="+mj-ea"/>
                <a:cs typeface="微软雅黑" panose="020B0503020204020204" pitchFamily="34" charset="-122"/>
              </a:rPr>
              <a:t>金山大学稻壳学院</a:t>
            </a:r>
            <a:endParaRPr kumimoji="0" lang="zh-CN" altLang="en-US" sz="1200" b="0" i="0" u="none" strike="noStrike" kern="1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-10391" y="4137020"/>
            <a:ext cx="9154391" cy="1006481"/>
            <a:chOff x="-10391" y="4137020"/>
            <a:chExt cx="9154391" cy="1006481"/>
          </a:xfrm>
        </p:grpSpPr>
        <p:sp>
          <p:nvSpPr>
            <p:cNvPr id="22" name="Rectangle 5"/>
            <p:cNvSpPr>
              <a:spLocks noChangeArrowheads="1"/>
            </p:cNvSpPr>
            <p:nvPr/>
          </p:nvSpPr>
          <p:spPr bwMode="auto">
            <a:xfrm>
              <a:off x="2668367" y="4455131"/>
              <a:ext cx="6475633" cy="47401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 bwMode="auto">
            <a:xfrm>
              <a:off x="-10391" y="4137020"/>
              <a:ext cx="9154391" cy="1006481"/>
            </a:xfrm>
            <a:custGeom>
              <a:avLst/>
              <a:gdLst>
                <a:gd name="connsiteX0" fmla="*/ 0 w 9154391"/>
                <a:gd name="connsiteY0" fmla="*/ 0 h 1006481"/>
                <a:gd name="connsiteX1" fmla="*/ 2992130 w 9154391"/>
                <a:gd name="connsiteY1" fmla="*/ 0 h 1006481"/>
                <a:gd name="connsiteX2" fmla="*/ 3924521 w 9154391"/>
                <a:gd name="connsiteY2" fmla="*/ 559797 h 1006481"/>
                <a:gd name="connsiteX3" fmla="*/ 9154391 w 9154391"/>
                <a:gd name="connsiteY3" fmla="*/ 559797 h 1006481"/>
                <a:gd name="connsiteX4" fmla="*/ 9154391 w 9154391"/>
                <a:gd name="connsiteY4" fmla="*/ 939117 h 1006481"/>
                <a:gd name="connsiteX5" fmla="*/ 9154391 w 9154391"/>
                <a:gd name="connsiteY5" fmla="*/ 1006481 h 1006481"/>
                <a:gd name="connsiteX6" fmla="*/ 0 w 9154391"/>
                <a:gd name="connsiteY6" fmla="*/ 1006481 h 1006481"/>
                <a:gd name="connsiteX7" fmla="*/ 0 w 9154391"/>
                <a:gd name="connsiteY7" fmla="*/ 923127 h 1006481"/>
                <a:gd name="connsiteX8" fmla="*/ 0 w 9154391"/>
                <a:gd name="connsiteY8" fmla="*/ 0 h 100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54391" h="1006481">
                  <a:moveTo>
                    <a:pt x="0" y="0"/>
                  </a:moveTo>
                  <a:cubicBezTo>
                    <a:pt x="152573" y="0"/>
                    <a:pt x="1542685" y="0"/>
                    <a:pt x="2992130" y="0"/>
                  </a:cubicBezTo>
                  <a:cubicBezTo>
                    <a:pt x="3610899" y="0"/>
                    <a:pt x="3483754" y="559797"/>
                    <a:pt x="3924521" y="559797"/>
                  </a:cubicBezTo>
                  <a:cubicBezTo>
                    <a:pt x="4246621" y="559797"/>
                    <a:pt x="9154391" y="559797"/>
                    <a:pt x="9154391" y="559797"/>
                  </a:cubicBezTo>
                  <a:cubicBezTo>
                    <a:pt x="9154391" y="713203"/>
                    <a:pt x="9154391" y="837846"/>
                    <a:pt x="9154391" y="939117"/>
                  </a:cubicBezTo>
                  <a:lnTo>
                    <a:pt x="9154391" y="1006481"/>
                  </a:lnTo>
                  <a:lnTo>
                    <a:pt x="0" y="1006481"/>
                  </a:lnTo>
                  <a:lnTo>
                    <a:pt x="0" y="923127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12" name="矩形 11"/>
          <p:cNvSpPr/>
          <p:nvPr/>
        </p:nvSpPr>
        <p:spPr bwMode="auto">
          <a:xfrm>
            <a:off x="3463289" y="2286879"/>
            <a:ext cx="221742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pitchFamily="34" charset="-122"/>
              </a:rPr>
              <a:t>实现方法</a:t>
            </a:r>
            <a:endParaRPr kumimoji="0" lang="zh-CN" altLang="en-US" sz="4000" b="1" i="0" u="none" strike="noStrike" kern="1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048283" y="1051069"/>
            <a:ext cx="1047434" cy="1047434"/>
            <a:chOff x="4048283" y="998818"/>
            <a:chExt cx="1047434" cy="1047434"/>
          </a:xfrm>
        </p:grpSpPr>
        <p:sp>
          <p:nvSpPr>
            <p:cNvPr id="16" name="椭圆 15"/>
            <p:cNvSpPr/>
            <p:nvPr/>
          </p:nvSpPr>
          <p:spPr>
            <a:xfrm>
              <a:off x="4048283" y="998818"/>
              <a:ext cx="1047434" cy="104743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4139830" y="1194718"/>
              <a:ext cx="86434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4000" b="1" kern="100">
                  <a:solidFill>
                    <a:schemeClr val="bg1"/>
                  </a:solidFill>
                  <a:latin typeface="+mj-ea"/>
                  <a:ea typeface="+mj-ea"/>
                  <a:cs typeface="微软雅黑" panose="020B0503020204020204" pitchFamily="34" charset="-122"/>
                </a:rPr>
                <a:t>03</a:t>
              </a:r>
              <a:endParaRPr kumimoji="0" lang="zh-CN" altLang="en-US" sz="4000" b="0" i="0" u="none" strike="noStrike" kern="1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pitchFamily="34" charset="-122"/>
              </a:endParaRPr>
            </a:p>
          </p:txBody>
        </p:sp>
      </p:grpSp>
      <p:sp>
        <p:nvSpPr>
          <p:cNvPr id="3" name="矩形 2"/>
          <p:cNvSpPr/>
          <p:nvPr/>
        </p:nvSpPr>
        <p:spPr bwMode="auto">
          <a:xfrm>
            <a:off x="6154420" y="4826000"/>
            <a:ext cx="2773680" cy="2755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latin typeface="+mj-ea"/>
                <a:ea typeface="+mj-ea"/>
                <a:cs typeface="微软雅黑" panose="020B0503020204020204" pitchFamily="34" charset="-122"/>
                <a:sym typeface="+mn-ea"/>
              </a:rPr>
              <a:t>北京信息科技大学信息与通信工程学院</a:t>
            </a:r>
            <a:endParaRPr kumimoji="0" lang="zh-CN" altLang="en-US" sz="1200" i="0" u="none" strike="noStrike" kern="1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545">
        <p159:morph option="byObject"/>
      </p:transition>
    </mc:Choice>
    <mc:Fallback>
      <p:transition spd="slow" advTm="2545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0998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实现方法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546735" y="836295"/>
            <a:ext cx="20618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策略评估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98475" y="2104390"/>
            <a:ext cx="311975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在给定的策略下，通过不断迭代来估算出每个状态的价值函数。流程图</a:t>
            </a:r>
            <a:r>
              <a:rPr lang="zh-CN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如图所示：</a:t>
            </a:r>
            <a:endParaRPr lang="zh-CN" sz="16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23757" t="2566" r="9379" b="1284"/>
          <a:stretch>
            <a:fillRect/>
          </a:stretch>
        </p:blipFill>
        <p:spPr>
          <a:xfrm>
            <a:off x="4131310" y="60960"/>
            <a:ext cx="3793490" cy="4833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5824">
        <p159:morph option="byObject"/>
      </p:transition>
    </mc:Choice>
    <mc:Fallback>
      <p:transition spd="slow" advTm="35824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0998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实现方法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54025" y="836295"/>
            <a:ext cx="20618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策略改进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546735" y="3001645"/>
          <a:ext cx="2421890" cy="69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1688465" imgH="482600" progId="Equation.KSEE3">
                  <p:embed/>
                </p:oleObj>
              </mc:Choice>
              <mc:Fallback>
                <p:oleObj name="" r:id="rId3" imgW="1688465" imgH="482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6735" y="3001645"/>
                        <a:ext cx="2421890" cy="692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文本框 99"/>
          <p:cNvSpPr txBox="1"/>
          <p:nvPr/>
        </p:nvSpPr>
        <p:spPr>
          <a:xfrm>
            <a:off x="454025" y="2048510"/>
            <a:ext cx="383730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在策略评估步骤结束后，策略改进步骤会根据新得到的价值函数来更新策略。流程图</a:t>
            </a:r>
            <a:r>
              <a:rPr lang="zh-CN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如图所示：</a:t>
            </a:r>
            <a:endParaRPr lang="zh-CN" sz="16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240" y="0"/>
            <a:ext cx="4678045" cy="48088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2773">
        <p159:morph option="byObject"/>
      </p:transition>
    </mc:Choice>
    <mc:Fallback>
      <p:transition spd="slow" advTm="12773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0998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实现方法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09880" y="2095500"/>
            <a:ext cx="3815715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本课题主要研究基于策略迭代的路径规划算法，利用策略迭代算法实现在有障碍物的未知环境下，实现从起点到终点生成一条最优路径，通过可视化界面显示出来。流程图如图所示：</a:t>
            </a:r>
            <a:endParaRPr 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389890" y="836295"/>
            <a:ext cx="20618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策略迭代算法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37638" t="366" r="23476"/>
          <a:stretch>
            <a:fillRect/>
          </a:stretch>
        </p:blipFill>
        <p:spPr>
          <a:xfrm>
            <a:off x="4780915" y="0"/>
            <a:ext cx="2981325" cy="4997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1391">
        <p159:morph option="byObject"/>
      </p:transition>
    </mc:Choice>
    <mc:Fallback>
      <p:transition spd="slow" advTm="11391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 bwMode="auto">
          <a:xfrm>
            <a:off x="3513493" y="4687500"/>
            <a:ext cx="211701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100">
                <a:solidFill>
                  <a:schemeClr val="bg1"/>
                </a:solidFill>
                <a:latin typeface="+mj-ea"/>
                <a:ea typeface="+mj-ea"/>
                <a:cs typeface="微软雅黑" panose="020B0503020204020204" pitchFamily="34" charset="-122"/>
              </a:rPr>
              <a:t>金山大学稻壳学院</a:t>
            </a:r>
            <a:endParaRPr kumimoji="0" lang="zh-CN" altLang="en-US" sz="1200" b="0" i="0" u="none" strike="noStrike" kern="1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-10391" y="4137020"/>
            <a:ext cx="9154391" cy="1006481"/>
            <a:chOff x="-10391" y="4137020"/>
            <a:chExt cx="9154391" cy="1006481"/>
          </a:xfrm>
        </p:grpSpPr>
        <p:sp>
          <p:nvSpPr>
            <p:cNvPr id="22" name="Rectangle 5"/>
            <p:cNvSpPr>
              <a:spLocks noChangeArrowheads="1"/>
            </p:cNvSpPr>
            <p:nvPr/>
          </p:nvSpPr>
          <p:spPr bwMode="auto">
            <a:xfrm>
              <a:off x="2668367" y="4455131"/>
              <a:ext cx="6475633" cy="47401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 bwMode="auto">
            <a:xfrm>
              <a:off x="-10391" y="4137020"/>
              <a:ext cx="9154391" cy="1006481"/>
            </a:xfrm>
            <a:custGeom>
              <a:avLst/>
              <a:gdLst>
                <a:gd name="connsiteX0" fmla="*/ 0 w 9154391"/>
                <a:gd name="connsiteY0" fmla="*/ 0 h 1006481"/>
                <a:gd name="connsiteX1" fmla="*/ 2992130 w 9154391"/>
                <a:gd name="connsiteY1" fmla="*/ 0 h 1006481"/>
                <a:gd name="connsiteX2" fmla="*/ 3924521 w 9154391"/>
                <a:gd name="connsiteY2" fmla="*/ 559797 h 1006481"/>
                <a:gd name="connsiteX3" fmla="*/ 9154391 w 9154391"/>
                <a:gd name="connsiteY3" fmla="*/ 559797 h 1006481"/>
                <a:gd name="connsiteX4" fmla="*/ 9154391 w 9154391"/>
                <a:gd name="connsiteY4" fmla="*/ 939117 h 1006481"/>
                <a:gd name="connsiteX5" fmla="*/ 9154391 w 9154391"/>
                <a:gd name="connsiteY5" fmla="*/ 1006481 h 1006481"/>
                <a:gd name="connsiteX6" fmla="*/ 0 w 9154391"/>
                <a:gd name="connsiteY6" fmla="*/ 1006481 h 1006481"/>
                <a:gd name="connsiteX7" fmla="*/ 0 w 9154391"/>
                <a:gd name="connsiteY7" fmla="*/ 923127 h 1006481"/>
                <a:gd name="connsiteX8" fmla="*/ 0 w 9154391"/>
                <a:gd name="connsiteY8" fmla="*/ 0 h 100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54391" h="1006481">
                  <a:moveTo>
                    <a:pt x="0" y="0"/>
                  </a:moveTo>
                  <a:cubicBezTo>
                    <a:pt x="152573" y="0"/>
                    <a:pt x="1542685" y="0"/>
                    <a:pt x="2992130" y="0"/>
                  </a:cubicBezTo>
                  <a:cubicBezTo>
                    <a:pt x="3610899" y="0"/>
                    <a:pt x="3483754" y="559797"/>
                    <a:pt x="3924521" y="559797"/>
                  </a:cubicBezTo>
                  <a:cubicBezTo>
                    <a:pt x="4246621" y="559797"/>
                    <a:pt x="9154391" y="559797"/>
                    <a:pt x="9154391" y="559797"/>
                  </a:cubicBezTo>
                  <a:cubicBezTo>
                    <a:pt x="9154391" y="713203"/>
                    <a:pt x="9154391" y="837846"/>
                    <a:pt x="9154391" y="939117"/>
                  </a:cubicBezTo>
                  <a:lnTo>
                    <a:pt x="9154391" y="1006481"/>
                  </a:lnTo>
                  <a:lnTo>
                    <a:pt x="0" y="1006481"/>
                  </a:lnTo>
                  <a:lnTo>
                    <a:pt x="0" y="923127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12" name="矩形 11"/>
          <p:cNvSpPr/>
          <p:nvPr/>
        </p:nvSpPr>
        <p:spPr bwMode="auto">
          <a:xfrm>
            <a:off x="3208972" y="2286879"/>
            <a:ext cx="2726055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pitchFamily="34" charset="-122"/>
              </a:rPr>
              <a:t>结果及分析</a:t>
            </a:r>
            <a:endParaRPr kumimoji="0" lang="zh-CN" altLang="en-US" sz="4000" b="1" i="0" u="none" strike="noStrike" kern="1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048283" y="1051069"/>
            <a:ext cx="1047434" cy="1047434"/>
            <a:chOff x="4048283" y="998818"/>
            <a:chExt cx="1047434" cy="1047434"/>
          </a:xfrm>
        </p:grpSpPr>
        <p:sp>
          <p:nvSpPr>
            <p:cNvPr id="16" name="椭圆 15"/>
            <p:cNvSpPr/>
            <p:nvPr/>
          </p:nvSpPr>
          <p:spPr>
            <a:xfrm>
              <a:off x="4048283" y="998818"/>
              <a:ext cx="1047434" cy="104743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4139830" y="1194718"/>
              <a:ext cx="86434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4000" b="1" kern="100">
                  <a:solidFill>
                    <a:schemeClr val="bg1"/>
                  </a:solidFill>
                  <a:latin typeface="+mj-ea"/>
                  <a:ea typeface="+mj-ea"/>
                  <a:cs typeface="微软雅黑" panose="020B0503020204020204" pitchFamily="34" charset="-122"/>
                </a:rPr>
                <a:t>04</a:t>
              </a:r>
              <a:endParaRPr kumimoji="0" lang="zh-CN" altLang="en-US" sz="4000" b="0" i="0" u="none" strike="noStrike" kern="1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pitchFamily="34" charset="-122"/>
              </a:endParaRPr>
            </a:p>
          </p:txBody>
        </p:sp>
      </p:grpSp>
      <p:sp>
        <p:nvSpPr>
          <p:cNvPr id="5" name="矩形 4"/>
          <p:cNvSpPr/>
          <p:nvPr>
            <p:custDataLst>
              <p:tags r:id="rId1"/>
            </p:custDataLst>
          </p:nvPr>
        </p:nvSpPr>
        <p:spPr bwMode="auto">
          <a:xfrm>
            <a:off x="6154420" y="4826000"/>
            <a:ext cx="2773680" cy="2755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latin typeface="+mj-ea"/>
                <a:ea typeface="+mj-ea"/>
                <a:cs typeface="微软雅黑" panose="020B0503020204020204" pitchFamily="34" charset="-122"/>
                <a:sym typeface="+mn-ea"/>
              </a:rPr>
              <a:t>北京信息科技大学信息与通信工程学院</a:t>
            </a:r>
            <a:endParaRPr kumimoji="0" lang="zh-CN" altLang="en-US" sz="1200" i="0" u="none" strike="noStrike" kern="1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157">
        <p159:morph option="byObject"/>
      </p:transition>
    </mc:Choice>
    <mc:Fallback>
      <p:transition spd="slow" advTm="1157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32905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800" b="1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sym typeface="+mn-ea"/>
              </a:rPr>
              <a:t>结果及分析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958590" y="836295"/>
            <a:ext cx="387794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环境模型通过马尔可夫决策过程构成基本的环境，再通过图像引擎渲染可视化</a:t>
            </a:r>
            <a:endParaRPr lang="zh-CN" altLang="en-US" sz="1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45669652" name="图片 1" descr="图片包含 图表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11741" r="12522" b="10452"/>
          <a:stretch>
            <a:fillRect/>
          </a:stretch>
        </p:blipFill>
        <p:spPr>
          <a:xfrm>
            <a:off x="1598930" y="1851660"/>
            <a:ext cx="2510155" cy="2510155"/>
          </a:xfrm>
          <a:prstGeom prst="rect">
            <a:avLst/>
          </a:prstGeom>
          <a:ln>
            <a:noFill/>
          </a:ln>
        </p:spPr>
      </p:pic>
      <p:pic>
        <p:nvPicPr>
          <p:cNvPr id="166425857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52" t="11132" r="9368" b="10283"/>
          <a:stretch>
            <a:fillRect/>
          </a:stretch>
        </p:blipFill>
        <p:spPr>
          <a:xfrm>
            <a:off x="4961255" y="1838325"/>
            <a:ext cx="2518410" cy="2523490"/>
          </a:xfrm>
          <a:prstGeom prst="rect">
            <a:avLst/>
          </a:prstGeom>
          <a:ln>
            <a:noFill/>
          </a:ln>
        </p:spPr>
      </p:pic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567690" y="728980"/>
            <a:ext cx="22752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网格环境模型仿真结果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84580" y="4361815"/>
            <a:ext cx="716597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342900"/>
            <a:r>
              <a:rPr lang="en-US" alt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8×8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随机障碍的网格环境</a:t>
            </a:r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               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8×8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随机障碍的网格环境</a:t>
            </a:r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en-US" sz="1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7151">
        <p159:morph option="byObject"/>
      </p:transition>
    </mc:Choice>
    <mc:Fallback>
      <p:transition spd="slow" advTm="17151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32905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800" b="1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sym typeface="+mn-ea"/>
              </a:rPr>
              <a:t>结果及分析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7215" y="906145"/>
            <a:ext cx="3863340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实际环境模型设计步骤：</a:t>
            </a:r>
            <a:endParaRPr lang="zh-CN" altLang="en-US" sz="1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/>
            <a:r>
              <a:rPr lang="en-US" altLang="zh-CN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将原图像转换为灰度图像</a:t>
            </a:r>
            <a:endParaRPr lang="en-US" altLang="zh-CN" sz="1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/>
            <a:r>
              <a:rPr lang="en-US" altLang="zh-CN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将灰度图像转成二值化图像</a:t>
            </a:r>
            <a:endParaRPr lang="en-US" altLang="zh-CN" sz="1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/>
            <a:r>
              <a:rPr lang="en-US" altLang="zh-CN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通过二值图像标记障碍物传入网格环境模型</a:t>
            </a:r>
            <a:endParaRPr lang="en-US" altLang="zh-CN" sz="1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1663549" name="图片 3" descr="图片包含 游戏机, 桌子, 房间, 地毯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707" b="9152"/>
          <a:stretch>
            <a:fillRect/>
          </a:stretch>
        </p:blipFill>
        <p:spPr>
          <a:xfrm>
            <a:off x="918845" y="1929130"/>
            <a:ext cx="2373630" cy="3025140"/>
          </a:xfrm>
          <a:prstGeom prst="rect">
            <a:avLst/>
          </a:prstGeom>
          <a:ln>
            <a:noFill/>
          </a:ln>
        </p:spPr>
      </p:pic>
      <p:pic>
        <p:nvPicPr>
          <p:cNvPr id="4" name="图片 3"/>
          <p:cNvPicPr/>
          <p:nvPr/>
        </p:nvPicPr>
        <p:blipFill>
          <a:blip r:embed="rId4"/>
          <a:stretch>
            <a:fillRect/>
          </a:stretch>
        </p:blipFill>
        <p:spPr>
          <a:xfrm>
            <a:off x="4841875" y="2491105"/>
            <a:ext cx="2517140" cy="24580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577215" y="499110"/>
            <a:ext cx="22504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实际环境模型仿真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20635" y="192405"/>
            <a:ext cx="138303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家具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场景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2" descr="16×1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39502" t="21927" r="36889" b="24225"/>
          <a:stretch>
            <a:fillRect/>
          </a:stretch>
        </p:blipFill>
        <p:spPr>
          <a:xfrm>
            <a:off x="4848860" y="0"/>
            <a:ext cx="2510155" cy="24650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4311">
        <p159:morph option="byObject"/>
      </p:transition>
    </mc:Choice>
    <mc:Fallback>
      <p:transition spd="slow" advTm="24311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32905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800" b="1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sym typeface="+mn-ea"/>
              </a:rPr>
              <a:t>结果及分析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577215" y="499110"/>
            <a:ext cx="22504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实际环境模型仿真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bango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15" y="1903730"/>
            <a:ext cx="3115310" cy="2639060"/>
          </a:xfrm>
          <a:prstGeom prst="rect">
            <a:avLst/>
          </a:prstGeom>
        </p:spPr>
      </p:pic>
      <p:pic>
        <p:nvPicPr>
          <p:cNvPr id="7" name="图片 6" descr="办公网格"/>
          <p:cNvPicPr>
            <a:picLocks noChangeAspect="1"/>
          </p:cNvPicPr>
          <p:nvPr/>
        </p:nvPicPr>
        <p:blipFill>
          <a:blip r:embed="rId3"/>
          <a:srcRect l="33533" t="11200" r="30798" b="9721"/>
          <a:stretch>
            <a:fillRect/>
          </a:stretch>
        </p:blipFill>
        <p:spPr>
          <a:xfrm>
            <a:off x="4996815" y="2602865"/>
            <a:ext cx="2443480" cy="240093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577215" y="1298575"/>
            <a:ext cx="138303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办公室场景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 descr="16×16"/>
          <p:cNvPicPr>
            <a:picLocks noChangeAspect="1"/>
          </p:cNvPicPr>
          <p:nvPr/>
        </p:nvPicPr>
        <p:blipFill>
          <a:blip r:embed="rId5"/>
          <a:srcRect l="39625" t="22343" r="37063" b="24828"/>
          <a:stretch>
            <a:fillRect/>
          </a:stretch>
        </p:blipFill>
        <p:spPr>
          <a:xfrm>
            <a:off x="5056505" y="51435"/>
            <a:ext cx="2336800" cy="25609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263">
        <p159:morph option="byObject"/>
      </p:transition>
    </mc:Choice>
    <mc:Fallback>
      <p:transition spd="slow" advTm="5263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32905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800" b="1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sym typeface="+mn-ea"/>
              </a:rPr>
              <a:t>结果及分析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393065" y="499110"/>
            <a:ext cx="22504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实际环境模型仿真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276860" y="1243965"/>
            <a:ext cx="138303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室内场景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 descr="jiaju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958340"/>
            <a:ext cx="3975100" cy="2848610"/>
          </a:xfrm>
          <a:prstGeom prst="rect">
            <a:avLst/>
          </a:prstGeom>
        </p:spPr>
      </p:pic>
      <p:pic>
        <p:nvPicPr>
          <p:cNvPr id="7" name="图片 6" descr="室内网格"/>
          <p:cNvPicPr>
            <a:picLocks noChangeAspect="1"/>
          </p:cNvPicPr>
          <p:nvPr/>
        </p:nvPicPr>
        <p:blipFill>
          <a:blip r:embed="rId4"/>
          <a:srcRect l="37706" t="10660" r="35339" b="9328"/>
          <a:stretch>
            <a:fillRect/>
          </a:stretch>
        </p:blipFill>
        <p:spPr>
          <a:xfrm>
            <a:off x="5242560" y="2602865"/>
            <a:ext cx="2432050" cy="2404110"/>
          </a:xfrm>
          <a:prstGeom prst="rect">
            <a:avLst/>
          </a:prstGeom>
        </p:spPr>
      </p:pic>
      <p:pic>
        <p:nvPicPr>
          <p:cNvPr id="3" name="图片 2" descr="20×20"/>
          <p:cNvPicPr>
            <a:picLocks noChangeAspect="1"/>
          </p:cNvPicPr>
          <p:nvPr/>
        </p:nvPicPr>
        <p:blipFill>
          <a:blip r:embed="rId5"/>
          <a:srcRect l="39556" t="24384" r="37063" b="26601"/>
          <a:stretch>
            <a:fillRect/>
          </a:stretch>
        </p:blipFill>
        <p:spPr>
          <a:xfrm>
            <a:off x="5242560" y="16510"/>
            <a:ext cx="2430780" cy="25863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7770">
        <p159:morph option="byObject"/>
      </p:transition>
    </mc:Choice>
    <mc:Fallback>
      <p:transition spd="slow" advTm="777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32905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结果及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2684145" y="175260"/>
            <a:ext cx="2192020" cy="20681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5561965" y="168275"/>
            <a:ext cx="2195830" cy="20751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5405120" y="2294890"/>
            <a:ext cx="30206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>
                <a:latin typeface="+mj-lt"/>
                <a:ea typeface="+mj-lt"/>
                <a:cs typeface="+mj-lt"/>
                <a:sym typeface="+mn-ea"/>
              </a:rPr>
              <a:t>（</a:t>
            </a:r>
            <a:r>
              <a:rPr lang="en-US" sz="1200">
                <a:latin typeface="+mj-lt"/>
                <a:ea typeface="+mj-lt"/>
                <a:cs typeface="+mj-lt"/>
                <a:sym typeface="+mn-ea"/>
              </a:rPr>
              <a:t>b</a:t>
            </a:r>
            <a:r>
              <a:rPr lang="zh-CN" sz="1200">
                <a:latin typeface="+mj-lt"/>
                <a:ea typeface="+mj-lt"/>
                <a:cs typeface="+mj-lt"/>
                <a:sym typeface="+mn-ea"/>
              </a:rPr>
              <a:t>）</a:t>
            </a:r>
            <a:r>
              <a:rPr lang="en-US" sz="1200">
                <a:latin typeface="+mj-lt"/>
                <a:ea typeface="+mj-lt"/>
                <a:cs typeface="+mj-lt"/>
                <a:sym typeface="+mn-ea"/>
              </a:rPr>
              <a:t>6×6</a:t>
            </a:r>
            <a:r>
              <a:rPr lang="zh-CN" sz="1200">
                <a:latin typeface="+mj-lt"/>
                <a:ea typeface="+mj-lt"/>
                <a:cs typeface="+mj-lt"/>
                <a:sym typeface="+mn-ea"/>
              </a:rPr>
              <a:t>网格状态模型最优路径仿真</a:t>
            </a:r>
            <a:r>
              <a:rPr lang="en-US" sz="1200">
                <a:latin typeface="+mj-lt"/>
                <a:ea typeface="+mj-lt"/>
                <a:cs typeface="+mj-lt"/>
                <a:sym typeface="+mn-ea"/>
              </a:rPr>
              <a:t>2</a:t>
            </a:r>
            <a:endParaRPr lang="en-US" altLang="en-US" sz="1200" b="0">
              <a:latin typeface="+mj-lt"/>
              <a:ea typeface="+mj-lt"/>
              <a:cs typeface="+mj-lt"/>
            </a:endParaRPr>
          </a:p>
          <a:p>
            <a:endParaRPr lang="en-US" altLang="en-US" sz="1200" b="0">
              <a:latin typeface="+mj-lt"/>
              <a:ea typeface="+mj-lt"/>
              <a:cs typeface="+mj-lt"/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40640" y="735965"/>
            <a:ext cx="27571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网格环境模型路径规划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/>
          <p:nvPr/>
        </p:nvPicPr>
        <p:blipFill>
          <a:blip r:embed="rId4"/>
          <a:stretch>
            <a:fillRect/>
          </a:stretch>
        </p:blipFill>
        <p:spPr>
          <a:xfrm>
            <a:off x="2684780" y="2621915"/>
            <a:ext cx="2191385" cy="20967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图片 10"/>
          <p:cNvPicPr/>
          <p:nvPr/>
        </p:nvPicPr>
        <p:blipFill>
          <a:blip r:embed="rId5"/>
          <a:stretch>
            <a:fillRect/>
          </a:stretch>
        </p:blipFill>
        <p:spPr>
          <a:xfrm>
            <a:off x="5561965" y="2545715"/>
            <a:ext cx="2196465" cy="21983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5064760" y="4737100"/>
            <a:ext cx="2965450" cy="440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</a:t>
            </a:r>
            <a:r>
              <a:rPr 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15×15</a:t>
            </a:r>
            <a:r>
              <a:rPr 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网格状态模型最优路径仿真</a:t>
            </a:r>
            <a:endParaRPr lang="zh-CN" altLang="en-US" sz="12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2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44115" y="2287905"/>
            <a:ext cx="28130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>
                <a:latin typeface="+mj-lt"/>
                <a:ea typeface="+mj-lt"/>
                <a:cs typeface="+mj-lt"/>
                <a:sym typeface="+mn-ea"/>
              </a:rPr>
              <a:t>（</a:t>
            </a:r>
            <a:r>
              <a:rPr lang="en-US" sz="1200">
                <a:latin typeface="+mj-lt"/>
                <a:ea typeface="+mj-lt"/>
                <a:cs typeface="+mj-lt"/>
                <a:sym typeface="+mn-ea"/>
              </a:rPr>
              <a:t>a</a:t>
            </a:r>
            <a:r>
              <a:rPr lang="zh-CN" sz="1200">
                <a:latin typeface="+mj-lt"/>
                <a:ea typeface="+mj-lt"/>
                <a:cs typeface="+mj-lt"/>
                <a:sym typeface="+mn-ea"/>
              </a:rPr>
              <a:t>）</a:t>
            </a:r>
            <a:r>
              <a:rPr lang="en-US" sz="1200">
                <a:latin typeface="+mj-lt"/>
                <a:ea typeface="+mj-lt"/>
                <a:cs typeface="+mj-lt"/>
                <a:sym typeface="+mn-ea"/>
              </a:rPr>
              <a:t>6×6</a:t>
            </a:r>
            <a:r>
              <a:rPr lang="zh-CN" sz="1200">
                <a:latin typeface="+mj-lt"/>
                <a:ea typeface="+mj-lt"/>
                <a:cs typeface="+mj-lt"/>
                <a:sym typeface="+mn-ea"/>
              </a:rPr>
              <a:t>网格状态模型最优路径仿真</a:t>
            </a:r>
            <a:r>
              <a:rPr lang="en-US" sz="1200">
                <a:latin typeface="+mj-lt"/>
                <a:ea typeface="+mj-lt"/>
                <a:cs typeface="+mj-lt"/>
                <a:sym typeface="+mn-ea"/>
              </a:rPr>
              <a:t>1 </a:t>
            </a:r>
            <a:endParaRPr lang="en-US" altLang="en-US" sz="1200">
              <a:latin typeface="+mj-lt"/>
              <a:ea typeface="+mj-lt"/>
              <a:cs typeface="+mj-lt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38705" y="4711700"/>
            <a:ext cx="28829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</a:t>
            </a:r>
            <a:r>
              <a:rPr 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10×10</a:t>
            </a:r>
            <a:r>
              <a:rPr 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网格状态模型最优路径仿真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4424">
        <p159:morph option="byObject"/>
      </p:transition>
    </mc:Choice>
    <mc:Fallback>
      <p:transition spd="slow" advTm="24424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32905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结果及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405765" y="661035"/>
            <a:ext cx="29483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实际环境模型路径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规划结果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4247954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70" t="11469" r="24998" b="10260"/>
          <a:stretch>
            <a:fillRect/>
          </a:stretch>
        </p:blipFill>
        <p:spPr>
          <a:xfrm>
            <a:off x="471170" y="1105535"/>
            <a:ext cx="2882900" cy="2825750"/>
          </a:xfrm>
          <a:prstGeom prst="rect">
            <a:avLst/>
          </a:prstGeom>
          <a:ln>
            <a:noFill/>
          </a:ln>
        </p:spPr>
      </p:pic>
      <p:sp>
        <p:nvSpPr>
          <p:cNvPr id="114" name="文本框 113"/>
          <p:cNvSpPr txBox="1"/>
          <p:nvPr/>
        </p:nvSpPr>
        <p:spPr>
          <a:xfrm>
            <a:off x="522605" y="4038600"/>
            <a:ext cx="252095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16×16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家具环境最优路径仿真</a:t>
            </a:r>
            <a:endParaRPr lang="zh-CN" altLang="en-US" sz="1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14140" y="583565"/>
            <a:ext cx="40900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状态空间的大小对于图像中的障碍物映射和路径规划会有影响，如下图所示。</a:t>
            </a:r>
            <a:endParaRPr lang="zh-CN" sz="1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4"/>
          <a:stretch>
            <a:fillRect/>
          </a:stretch>
        </p:blipFill>
        <p:spPr>
          <a:xfrm>
            <a:off x="3653790" y="1405890"/>
            <a:ext cx="2564765" cy="25253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/>
          <p:nvPr/>
        </p:nvPicPr>
        <p:blipFill>
          <a:blip r:embed="rId5"/>
          <a:stretch>
            <a:fillRect/>
          </a:stretch>
        </p:blipFill>
        <p:spPr>
          <a:xfrm>
            <a:off x="6395720" y="1405890"/>
            <a:ext cx="2630170" cy="25253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6" name="文本框 115"/>
          <p:cNvSpPr txBox="1"/>
          <p:nvPr/>
        </p:nvSpPr>
        <p:spPr>
          <a:xfrm>
            <a:off x="3653790" y="4038600"/>
            <a:ext cx="529336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10×10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家具路径仿真</a:t>
            </a:r>
            <a:r>
              <a:rPr lang="en-US" alt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</a:t>
            </a:r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20×20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家具路径仿真</a:t>
            </a:r>
            <a:endParaRPr lang="zh-CN" altLang="en-US" sz="1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3460">
        <p159:morph option="byObject"/>
      </p:transition>
    </mc:Choice>
    <mc:Fallback>
      <p:transition spd="slow" advTm="3346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32905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结果及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pic>
        <p:nvPicPr>
          <p:cNvPr id="116" name="图片 115"/>
          <p:cNvPicPr/>
          <p:nvPr/>
        </p:nvPicPr>
        <p:blipFill>
          <a:blip r:embed="rId1"/>
          <a:stretch>
            <a:fillRect/>
          </a:stretch>
        </p:blipFill>
        <p:spPr>
          <a:xfrm>
            <a:off x="1048385" y="1136015"/>
            <a:ext cx="3055620" cy="28721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4994910" y="1136015"/>
            <a:ext cx="3044190" cy="28721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8" name="文本框 117"/>
          <p:cNvSpPr txBox="1"/>
          <p:nvPr/>
        </p:nvSpPr>
        <p:spPr>
          <a:xfrm>
            <a:off x="1680845" y="4008120"/>
            <a:ext cx="587248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/>
            <a:r>
              <a:rPr lang="en-US" alt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办公最优路径仿真</a:t>
            </a:r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	                          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室内最优路径仿真</a:t>
            </a:r>
            <a:endParaRPr lang="zh-CN" altLang="en-US" sz="1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610870" y="661035"/>
            <a:ext cx="29483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实际环境模型路径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规划结果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7986">
        <p159:morph option="byObject"/>
      </p:transition>
    </mc:Choice>
    <mc:Fallback>
      <p:transition spd="slow" advTm="7986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32905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结果及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405765" y="661035"/>
            <a:ext cx="26866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网格环境模型仿真性能分析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05765" y="1229995"/>
            <a:ext cx="15367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值函数热图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84258659" name="图片 10" descr="图表, 箱线图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1" t="11799" r="9463" b="10546"/>
          <a:stretch>
            <a:fillRect/>
          </a:stretch>
        </p:blipFill>
        <p:spPr>
          <a:xfrm>
            <a:off x="405765" y="1647825"/>
            <a:ext cx="2381250" cy="2366010"/>
          </a:xfrm>
          <a:prstGeom prst="rect">
            <a:avLst/>
          </a:prstGeom>
          <a:ln>
            <a:noFill/>
          </a:ln>
        </p:spPr>
      </p:pic>
      <p:pic>
        <p:nvPicPr>
          <p:cNvPr id="768933724" name="图片 11" descr="图表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9" t="5538" r="6453" b="9102"/>
          <a:stretch>
            <a:fillRect/>
          </a:stretch>
        </p:blipFill>
        <p:spPr>
          <a:xfrm>
            <a:off x="3188018" y="1457325"/>
            <a:ext cx="2447925" cy="2556510"/>
          </a:xfrm>
          <a:prstGeom prst="rect">
            <a:avLst/>
          </a:prstGeom>
          <a:ln>
            <a:noFill/>
          </a:ln>
        </p:spPr>
      </p:pic>
      <p:sp>
        <p:nvSpPr>
          <p:cNvPr id="106" name="文本框 105"/>
          <p:cNvSpPr txBox="1"/>
          <p:nvPr/>
        </p:nvSpPr>
        <p:spPr>
          <a:xfrm>
            <a:off x="-655320" y="4094480"/>
            <a:ext cx="739330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685800"/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6×6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网格状态模型最优路径仿真</a:t>
            </a:r>
            <a:r>
              <a:rPr lang="en-US" alt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（b）6×6网格状态模型的值函数热图</a:t>
            </a:r>
            <a:endParaRPr lang="en-US" altLang="zh-CN" sz="1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34380" y="1457325"/>
            <a:ext cx="3061970" cy="1168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值函数热图在强化学习中用于可视化</a:t>
            </a:r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在不同状态下的值函数估计结果。值函数表示在给定策略下，从每个状态出发所能获得的长期回报的期望值。</a:t>
            </a:r>
            <a:endParaRPr lang="zh-CN" altLang="en-US" sz="1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7730">
        <p159:morph option="byObject"/>
      </p:transition>
    </mc:Choice>
    <mc:Fallback>
      <p:transition spd="slow" advTm="4773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32905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结果及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pic>
        <p:nvPicPr>
          <p:cNvPr id="1836054914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40" t="5813" r="14279" b="8322"/>
          <a:stretch>
            <a:fillRect/>
          </a:stretch>
        </p:blipFill>
        <p:spPr>
          <a:xfrm>
            <a:off x="2962275" y="779780"/>
            <a:ext cx="5934075" cy="3150870"/>
          </a:xfrm>
          <a:prstGeom prst="rect">
            <a:avLst/>
          </a:prstGeom>
          <a:ln>
            <a:noFill/>
          </a:ln>
        </p:spPr>
      </p:pic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227965" y="661035"/>
            <a:ext cx="26435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实际环境模型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仿真性能分析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4247954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70" t="11469" r="24998" b="10260"/>
          <a:stretch>
            <a:fillRect/>
          </a:stretch>
        </p:blipFill>
        <p:spPr>
          <a:xfrm>
            <a:off x="135255" y="1079500"/>
            <a:ext cx="2736215" cy="2682240"/>
          </a:xfrm>
          <a:prstGeom prst="rect">
            <a:avLst/>
          </a:prstGeom>
          <a:ln>
            <a:noFill/>
          </a:ln>
        </p:spPr>
      </p:pic>
      <p:sp>
        <p:nvSpPr>
          <p:cNvPr id="114" name="文本框 113"/>
          <p:cNvSpPr txBox="1"/>
          <p:nvPr>
            <p:custDataLst>
              <p:tags r:id="rId6"/>
            </p:custDataLst>
          </p:nvPr>
        </p:nvSpPr>
        <p:spPr>
          <a:xfrm>
            <a:off x="227965" y="3843020"/>
            <a:ext cx="2638425" cy="2216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 algn="ctr"/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16×16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家具环境最优路径仿真</a:t>
            </a:r>
            <a:endParaRPr lang="zh-CN" altLang="en-US" sz="1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3019425" y="323850"/>
            <a:ext cx="15367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值函数热图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5004435" y="4049395"/>
            <a:ext cx="184975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家居环境值函数热图</a:t>
            </a:r>
            <a:endParaRPr lang="zh-CN" altLang="en-US" sz="1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8211">
        <p159:morph option="byObject"/>
      </p:transition>
    </mc:Choice>
    <mc:Fallback>
      <p:transition spd="slow" advTm="28211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32905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结果及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05765" y="795655"/>
            <a:ext cx="45002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网格环境模型迭代次数-值函数收敛关系分析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6" name="图片 105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86840" y="1499235"/>
            <a:ext cx="2240280" cy="22307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" name="图片 106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404360" y="1133475"/>
            <a:ext cx="3390265" cy="2621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8" name="文本框 107"/>
          <p:cNvSpPr txBox="1"/>
          <p:nvPr/>
        </p:nvSpPr>
        <p:spPr>
          <a:xfrm>
            <a:off x="1503045" y="3809365"/>
            <a:ext cx="702246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457200"/>
            <a:r>
              <a:rPr lang="en-US" alt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网格环境图</a:t>
            </a:r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                              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迭代次数</a:t>
            </a:r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值函数关系图</a:t>
            </a:r>
            <a:endParaRPr lang="zh-CN" altLang="en-US" sz="1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00125" y="4195445"/>
            <a:ext cx="690118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不同状态的迭代次数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与值函数关系图，可以分析值函数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的收敛性，这可以显示出策略迭代算法是否成功地找到了最优策略和值函数。</a:t>
            </a:r>
            <a:endParaRPr lang="zh-CN" altLang="en-US" sz="1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1313">
        <p159:morph option="byObject"/>
      </p:transition>
    </mc:Choice>
    <mc:Fallback>
      <p:transition spd="slow" advTm="31313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32905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结果及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3210560" y="0"/>
            <a:ext cx="2240280" cy="22244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9" name="图片 108"/>
          <p:cNvPicPr/>
          <p:nvPr/>
        </p:nvPicPr>
        <p:blipFill>
          <a:blip r:embed="rId2"/>
          <a:stretch>
            <a:fillRect/>
          </a:stretch>
        </p:blipFill>
        <p:spPr>
          <a:xfrm>
            <a:off x="5923280" y="0"/>
            <a:ext cx="2171065" cy="22929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3209925" y="2538095"/>
            <a:ext cx="2240915" cy="2257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1" name="图片 110"/>
          <p:cNvPicPr/>
          <p:nvPr/>
        </p:nvPicPr>
        <p:blipFill>
          <a:blip r:embed="rId4"/>
          <a:stretch>
            <a:fillRect/>
          </a:stretch>
        </p:blipFill>
        <p:spPr>
          <a:xfrm>
            <a:off x="5905500" y="2538095"/>
            <a:ext cx="2171700" cy="22580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3840480" y="2292985"/>
            <a:ext cx="556895" cy="245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1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6605905" y="2292985"/>
            <a:ext cx="556895" cy="245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1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3840480" y="4751070"/>
            <a:ext cx="556895" cy="245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1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6605905" y="4796155"/>
            <a:ext cx="556895" cy="245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1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8600" y="3858895"/>
            <a:ext cx="247205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/>
            <a:r>
              <a:rPr lang="zh-CN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）第</a:t>
            </a:r>
            <a:r>
              <a:rPr lang="en-US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次迭代下的值函数热图</a:t>
            </a:r>
            <a:r>
              <a:rPr lang="en-US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sz="12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/>
            <a:r>
              <a:rPr lang="zh-CN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）第</a:t>
            </a:r>
            <a:r>
              <a:rPr lang="en-US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次迭代下的值函数热图（</a:t>
            </a:r>
            <a:r>
              <a:rPr lang="en-US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）第</a:t>
            </a:r>
            <a:r>
              <a:rPr lang="en-US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次迭代下的值函数热图</a:t>
            </a:r>
            <a:r>
              <a:rPr lang="en-US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sz="12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/>
            <a:r>
              <a:rPr lang="zh-CN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zh-CN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）第</a:t>
            </a:r>
            <a:r>
              <a:rPr lang="en-US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sz="12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次迭代下的值函数热图</a:t>
            </a:r>
            <a:endParaRPr lang="zh-CN" altLang="en-US" sz="12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7" name="图片 106"/>
          <p:cNvPicPr/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2070" y="661035"/>
            <a:ext cx="3157855" cy="2447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85470" y="3136265"/>
            <a:ext cx="224345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迭代次数</a:t>
            </a:r>
            <a:r>
              <a:rPr 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值函数关系图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657">
        <p159:morph option="byObject"/>
      </p:transition>
    </mc:Choice>
    <mc:Fallback>
      <p:transition spd="slow" advTm="9657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32905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结果及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pic>
        <p:nvPicPr>
          <p:cNvPr id="124247954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70" t="11469" r="24998" b="10260"/>
          <a:stretch>
            <a:fillRect/>
          </a:stretch>
        </p:blipFill>
        <p:spPr>
          <a:xfrm>
            <a:off x="380365" y="997585"/>
            <a:ext cx="2603500" cy="2552065"/>
          </a:xfrm>
          <a:prstGeom prst="rect">
            <a:avLst/>
          </a:prstGeom>
          <a:ln>
            <a:noFill/>
          </a:ln>
        </p:spPr>
      </p:pic>
      <p:sp>
        <p:nvSpPr>
          <p:cNvPr id="114" name="文本框 113"/>
          <p:cNvSpPr txBox="1"/>
          <p:nvPr>
            <p:custDataLst>
              <p:tags r:id="rId3"/>
            </p:custDataLst>
          </p:nvPr>
        </p:nvSpPr>
        <p:spPr>
          <a:xfrm>
            <a:off x="456565" y="3665220"/>
            <a:ext cx="2201545" cy="2216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 algn="ctr"/>
            <a:r>
              <a:rPr lang="en-US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16×16</a:t>
            </a:r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家具环境最优路径仿真</a:t>
            </a:r>
            <a:endParaRPr lang="zh-CN" altLang="en-US" sz="1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380365" y="544830"/>
            <a:ext cx="45002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实际环境模型迭代次数-值函数收敛关系分析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07508379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5" b="9034"/>
          <a:stretch>
            <a:fillRect/>
          </a:stretch>
        </p:blipFill>
        <p:spPr>
          <a:xfrm>
            <a:off x="3672205" y="882015"/>
            <a:ext cx="4413250" cy="3305175"/>
          </a:xfrm>
          <a:prstGeom prst="rect">
            <a:avLst/>
          </a:prstGeom>
          <a:ln>
            <a:noFill/>
          </a:ln>
        </p:spPr>
      </p:pic>
      <p:sp>
        <p:nvSpPr>
          <p:cNvPr id="118" name="文本框 117"/>
          <p:cNvSpPr txBox="1"/>
          <p:nvPr/>
        </p:nvSpPr>
        <p:spPr>
          <a:xfrm>
            <a:off x="228600" y="4221480"/>
            <a:ext cx="6908800" cy="737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在策略迭代算法中，值函数的变化通常是非单调的，因为在策略改进步骤中，策略可能会发生重大变化，特别是在学习早期。这可能会导致预期的未来奖励的大幅度变化，从而导致值函数的大幅度变化。</a:t>
            </a:r>
            <a:endParaRPr lang="zh-CN" altLang="en-US" sz="1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008620" y="1525905"/>
            <a:ext cx="600710" cy="20916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</a:rPr>
              <a:t>家</a:t>
            </a:r>
            <a:endParaRPr lang="zh-CN" sz="1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</a:rPr>
              <a:t>具</a:t>
            </a:r>
            <a:endParaRPr lang="zh-CN" sz="1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</a:rPr>
              <a:t>迭</a:t>
            </a:r>
            <a:endParaRPr lang="zh-CN" sz="1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</a:rPr>
              <a:t>代</a:t>
            </a:r>
            <a:endParaRPr lang="zh-CN" sz="1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zh-CN" sz="1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endParaRPr lang="zh-CN" sz="1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endParaRPr lang="en-US" sz="1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endParaRPr lang="zh-CN" sz="1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</a:rPr>
              <a:t>函</a:t>
            </a:r>
            <a:endParaRPr lang="zh-CN" sz="1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endParaRPr lang="zh-CN" sz="1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</a:rPr>
              <a:t>关</a:t>
            </a:r>
            <a:endParaRPr lang="zh-CN" sz="1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</a:rPr>
              <a:t>系</a:t>
            </a:r>
            <a:endParaRPr lang="zh-CN" sz="1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en-US" sz="1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7440">
        <p159:morph option="byObject"/>
      </p:transition>
    </mc:Choice>
    <mc:Fallback>
      <p:transition spd="slow" advTm="4744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32905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结果及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10580" y="2326640"/>
            <a:ext cx="556895" cy="245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1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5910580" y="4745990"/>
            <a:ext cx="556895" cy="245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1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8600" y="3858895"/>
            <a:ext cx="2882265" cy="737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/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）第</a:t>
            </a:r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次迭代下的值函数热图</a:t>
            </a:r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sz="1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/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）第</a:t>
            </a:r>
            <a:r>
              <a:rPr lang="en-US" alt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次迭代下的值函数热图</a:t>
            </a:r>
            <a:endParaRPr lang="zh-CN" sz="1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7845" y="3190875"/>
            <a:ext cx="224345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迭代次数</a:t>
            </a:r>
            <a:r>
              <a:rPr 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值函数关系图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907508379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5" b="9034"/>
          <a:stretch>
            <a:fillRect/>
          </a:stretch>
        </p:blipFill>
        <p:spPr>
          <a:xfrm>
            <a:off x="0" y="516890"/>
            <a:ext cx="3443605" cy="2579370"/>
          </a:xfrm>
          <a:prstGeom prst="rect">
            <a:avLst/>
          </a:prstGeom>
          <a:ln>
            <a:noFill/>
          </a:ln>
        </p:spPr>
      </p:pic>
      <p:pic>
        <p:nvPicPr>
          <p:cNvPr id="5" name="图片 4" descr="1"/>
          <p:cNvPicPr>
            <a:picLocks noChangeAspect="1"/>
          </p:cNvPicPr>
          <p:nvPr/>
        </p:nvPicPr>
        <p:blipFill>
          <a:blip r:embed="rId4"/>
          <a:srcRect l="11243" t="5829" r="12861" b="9186"/>
          <a:stretch>
            <a:fillRect/>
          </a:stretch>
        </p:blipFill>
        <p:spPr>
          <a:xfrm>
            <a:off x="4126230" y="-635"/>
            <a:ext cx="4125595" cy="2350770"/>
          </a:xfrm>
          <a:prstGeom prst="rect">
            <a:avLst/>
          </a:prstGeom>
        </p:spPr>
      </p:pic>
      <p:pic>
        <p:nvPicPr>
          <p:cNvPr id="11" name="图片 10" descr="10"/>
          <p:cNvPicPr>
            <a:picLocks noChangeAspect="1"/>
          </p:cNvPicPr>
          <p:nvPr/>
        </p:nvPicPr>
        <p:blipFill>
          <a:blip r:embed="rId5"/>
          <a:srcRect l="12139" t="5569" r="13611" b="9138"/>
          <a:stretch>
            <a:fillRect/>
          </a:stretch>
        </p:blipFill>
        <p:spPr>
          <a:xfrm>
            <a:off x="4126230" y="2520315"/>
            <a:ext cx="4125595" cy="22872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4341">
        <p159:morph option="byObject"/>
      </p:transition>
    </mc:Choice>
    <mc:Fallback>
      <p:transition spd="slow" advTm="14341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32905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结果及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5694680" y="2255520"/>
            <a:ext cx="556895" cy="245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1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5756275" y="4750435"/>
            <a:ext cx="556895" cy="245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zh-CN" sz="1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1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8600" y="3804285"/>
            <a:ext cx="3093085" cy="7918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 fontAlgn="auto"/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（</a:t>
            </a:r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）第</a:t>
            </a:r>
            <a:r>
              <a:rPr lang="en-US" alt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次迭代下的值函数热图</a:t>
            </a:r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sz="1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/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）第</a:t>
            </a:r>
            <a:r>
              <a:rPr lang="en-US" alt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27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次迭代下的值函数热图</a:t>
            </a:r>
            <a:endParaRPr lang="zh-CN" altLang="en-US" sz="1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7845" y="3190875"/>
            <a:ext cx="224345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迭代次数</a:t>
            </a:r>
            <a:r>
              <a:rPr 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值函数关系图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907508379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5" b="9034"/>
          <a:stretch>
            <a:fillRect/>
          </a:stretch>
        </p:blipFill>
        <p:spPr>
          <a:xfrm>
            <a:off x="0" y="516890"/>
            <a:ext cx="3443605" cy="2579370"/>
          </a:xfrm>
          <a:prstGeom prst="rect">
            <a:avLst/>
          </a:prstGeom>
          <a:ln>
            <a:noFill/>
          </a:ln>
        </p:spPr>
      </p:pic>
      <p:pic>
        <p:nvPicPr>
          <p:cNvPr id="3" name="图片 2" descr="20"/>
          <p:cNvPicPr>
            <a:picLocks noChangeAspect="1"/>
          </p:cNvPicPr>
          <p:nvPr/>
        </p:nvPicPr>
        <p:blipFill>
          <a:blip r:embed="rId5"/>
          <a:srcRect l="11840" t="5096" r="13535" b="9270"/>
          <a:stretch>
            <a:fillRect/>
          </a:stretch>
        </p:blipFill>
        <p:spPr>
          <a:xfrm>
            <a:off x="4005580" y="0"/>
            <a:ext cx="4112895" cy="2277745"/>
          </a:xfrm>
          <a:prstGeom prst="rect">
            <a:avLst/>
          </a:prstGeom>
        </p:spPr>
      </p:pic>
      <p:pic>
        <p:nvPicPr>
          <p:cNvPr id="4" name="图片 3" descr="27"/>
          <p:cNvPicPr>
            <a:picLocks noChangeAspect="1"/>
          </p:cNvPicPr>
          <p:nvPr/>
        </p:nvPicPr>
        <p:blipFill>
          <a:blip r:embed="rId6"/>
          <a:srcRect l="12057" t="6037" r="13384" b="9630"/>
          <a:stretch>
            <a:fillRect/>
          </a:stretch>
        </p:blipFill>
        <p:spPr>
          <a:xfrm>
            <a:off x="4005580" y="2500630"/>
            <a:ext cx="4112260" cy="23044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099">
        <p159:morph option="byObject"/>
      </p:transition>
    </mc:Choice>
    <mc:Fallback>
      <p:transition spd="slow" advTm="9099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132905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结果及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05765" y="795655"/>
            <a:ext cx="45002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网格环境模型折扣因子-迭代次数关系分析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46138639" name="图片 1" descr="图表, 折线图&#10;&#10;描述已自动生成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5" r="984" b="1998"/>
          <a:stretch>
            <a:fillRect/>
          </a:stretch>
        </p:blipFill>
        <p:spPr>
          <a:xfrm>
            <a:off x="4173220" y="2242185"/>
            <a:ext cx="3549015" cy="256730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73220" y="1105535"/>
          <a:ext cx="4690745" cy="325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4" imgW="3302000" imgH="228600" progId="Equation.KSEE3">
                  <p:embed/>
                </p:oleObj>
              </mc:Choice>
              <mc:Fallback>
                <p:oleObj name="" r:id="rId4" imgW="3302000" imgH="2286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73220" y="1105535"/>
                        <a:ext cx="4690745" cy="325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文本框 111"/>
          <p:cNvSpPr txBox="1"/>
          <p:nvPr/>
        </p:nvSpPr>
        <p:spPr>
          <a:xfrm>
            <a:off x="4173220" y="1468120"/>
            <a:ext cx="4645660" cy="737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/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随着折扣因子的增大会使越接近未来获得的奖励值更大，越靠近当下获得的奖励值越低。这会使得状态值函数的计算更加复杂，增加迭代次数</a:t>
            </a:r>
            <a:endParaRPr lang="zh-CN" sz="1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762875" y="2444115"/>
            <a:ext cx="1381760" cy="8426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/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8×8网格环境的折扣因子-迭代次数关系图</a:t>
            </a:r>
            <a:endParaRPr lang="zh-CN" altLang="en-US" sz="1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 descr="折扣因子路径"/>
          <p:cNvPicPr>
            <a:picLocks noChangeAspect="1"/>
          </p:cNvPicPr>
          <p:nvPr/>
        </p:nvPicPr>
        <p:blipFill>
          <a:blip r:embed="rId6"/>
          <a:srcRect l="16101" t="11210" r="13639" b="10296"/>
          <a:stretch>
            <a:fillRect/>
          </a:stretch>
        </p:blipFill>
        <p:spPr>
          <a:xfrm>
            <a:off x="554355" y="1652270"/>
            <a:ext cx="3145790" cy="3157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7637">
        <p159:morph option="byObject"/>
      </p:transition>
    </mc:Choice>
    <mc:Fallback>
      <p:transition spd="slow" advTm="37637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6"/>
          <p:cNvSpPr txBox="1">
            <a:spLocks noChangeArrowheads="1"/>
          </p:cNvSpPr>
          <p:nvPr/>
        </p:nvSpPr>
        <p:spPr bwMode="auto">
          <a:xfrm>
            <a:off x="228600" y="60727"/>
            <a:ext cx="316293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设计中遇到的难点和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rPr>
              <a:t>解决方法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12" name="文本框 111"/>
          <p:cNvSpPr txBox="1"/>
          <p:nvPr>
            <p:custDataLst>
              <p:tags r:id="rId1"/>
            </p:custDataLst>
          </p:nvPr>
        </p:nvSpPr>
        <p:spPr>
          <a:xfrm>
            <a:off x="330200" y="1664335"/>
            <a:ext cx="4645660" cy="1599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/>
            <a:r>
              <a:rPr lang="en-US" altLang="zh-CN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对于一个路径规划问题，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需要设计马尔可夫决策过程的五元组，其中参数的设定要根据实际情况来进行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考量。</a:t>
            </a:r>
            <a:endParaRPr lang="zh-CN" sz="1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/>
            <a:endParaRPr lang="zh-CN" sz="1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/>
            <a:r>
              <a:rPr lang="en-US" altLang="zh-CN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策略迭代算法的收敛性要求策略评估和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策略改进步骤交替迭代能够收敛到最优解，即达到最优值函数和最优策略。</a:t>
            </a:r>
            <a:endParaRPr lang="zh-CN" sz="1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/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其中确保算法的收敛性需要设计策略评估和</a:t>
            </a:r>
            <a:r>
              <a:rPr lang="zh-CN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策略改进的停止条件，以及合适的更新策略的方法。</a:t>
            </a:r>
            <a:endParaRPr lang="zh-CN" sz="1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49378" t="1853"/>
          <a:stretch>
            <a:fillRect/>
          </a:stretch>
        </p:blipFill>
        <p:spPr>
          <a:xfrm>
            <a:off x="5516880" y="1243330"/>
            <a:ext cx="3025140" cy="2656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7251">
        <p159:morph option="byObject"/>
      </p:transition>
    </mc:Choice>
    <mc:Fallback>
      <p:transition spd="slow" advTm="47251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 bwMode="auto">
          <a:xfrm>
            <a:off x="3513493" y="4687500"/>
            <a:ext cx="211701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100">
                <a:solidFill>
                  <a:schemeClr val="bg1"/>
                </a:solidFill>
                <a:latin typeface="+mj-ea"/>
                <a:ea typeface="+mj-ea"/>
                <a:cs typeface="微软雅黑" panose="020B0503020204020204" pitchFamily="34" charset="-122"/>
              </a:rPr>
              <a:t>金山大学稻壳学院</a:t>
            </a:r>
            <a:endParaRPr kumimoji="0" lang="zh-CN" altLang="en-US" sz="1200" b="0" i="0" u="none" strike="noStrike" kern="1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2313305" y="1471930"/>
            <a:ext cx="4764405" cy="229933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3200" b="1" spc="3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谢谢各位老师</a:t>
            </a:r>
            <a:endParaRPr kumimoji="0" sz="3200" b="1" i="0" u="none" strike="noStrike" kern="1200" spc="300" normalizeH="0" baseline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3200" b="1" spc="3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敬请各位老师批评指正</a:t>
            </a:r>
            <a:endParaRPr kumimoji="0" lang="en-US" altLang="zh-CN" sz="4000" b="1" i="0" u="none" strike="noStrike" kern="1200" cap="all" spc="0" normalizeH="0" baseline="0" noProof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reflection blurRad="12700" stA="28000" endPos="45000" dist="1000" dir="5400000" sy="-100000" algn="bl" rotWithShape="0"/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4000" b="1" i="0" u="none" strike="noStrike" kern="1200" cap="all" spc="0" normalizeH="0" baseline="0" noProof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reflection blurRad="12700" stA="28000" endPos="45000" dist="1000" dir="5400000" sy="-100000" algn="bl" rotWithShape="0"/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-10391" y="4137020"/>
            <a:ext cx="9154391" cy="1006481"/>
            <a:chOff x="-10391" y="4137020"/>
            <a:chExt cx="9154391" cy="1006481"/>
          </a:xfrm>
        </p:grpSpPr>
        <p:sp>
          <p:nvSpPr>
            <p:cNvPr id="22" name="Rectangle 5"/>
            <p:cNvSpPr>
              <a:spLocks noChangeArrowheads="1"/>
            </p:cNvSpPr>
            <p:nvPr/>
          </p:nvSpPr>
          <p:spPr bwMode="auto">
            <a:xfrm>
              <a:off x="2668367" y="4455131"/>
              <a:ext cx="6475633" cy="47401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 bwMode="auto">
            <a:xfrm>
              <a:off x="-10391" y="4137020"/>
              <a:ext cx="9154391" cy="1006481"/>
            </a:xfrm>
            <a:custGeom>
              <a:avLst/>
              <a:gdLst>
                <a:gd name="connsiteX0" fmla="*/ 0 w 9154391"/>
                <a:gd name="connsiteY0" fmla="*/ 0 h 1006481"/>
                <a:gd name="connsiteX1" fmla="*/ 2992130 w 9154391"/>
                <a:gd name="connsiteY1" fmla="*/ 0 h 1006481"/>
                <a:gd name="connsiteX2" fmla="*/ 3924521 w 9154391"/>
                <a:gd name="connsiteY2" fmla="*/ 559797 h 1006481"/>
                <a:gd name="connsiteX3" fmla="*/ 9154391 w 9154391"/>
                <a:gd name="connsiteY3" fmla="*/ 559797 h 1006481"/>
                <a:gd name="connsiteX4" fmla="*/ 9154391 w 9154391"/>
                <a:gd name="connsiteY4" fmla="*/ 939117 h 1006481"/>
                <a:gd name="connsiteX5" fmla="*/ 9154391 w 9154391"/>
                <a:gd name="connsiteY5" fmla="*/ 1006481 h 1006481"/>
                <a:gd name="connsiteX6" fmla="*/ 0 w 9154391"/>
                <a:gd name="connsiteY6" fmla="*/ 1006481 h 1006481"/>
                <a:gd name="connsiteX7" fmla="*/ 0 w 9154391"/>
                <a:gd name="connsiteY7" fmla="*/ 923127 h 1006481"/>
                <a:gd name="connsiteX8" fmla="*/ 0 w 9154391"/>
                <a:gd name="connsiteY8" fmla="*/ 0 h 100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54391" h="1006481">
                  <a:moveTo>
                    <a:pt x="0" y="0"/>
                  </a:moveTo>
                  <a:cubicBezTo>
                    <a:pt x="152573" y="0"/>
                    <a:pt x="1542685" y="0"/>
                    <a:pt x="2992130" y="0"/>
                  </a:cubicBezTo>
                  <a:cubicBezTo>
                    <a:pt x="3610899" y="0"/>
                    <a:pt x="3483754" y="559797"/>
                    <a:pt x="3924521" y="559797"/>
                  </a:cubicBezTo>
                  <a:cubicBezTo>
                    <a:pt x="4246621" y="559797"/>
                    <a:pt x="9154391" y="559797"/>
                    <a:pt x="9154391" y="559797"/>
                  </a:cubicBezTo>
                  <a:cubicBezTo>
                    <a:pt x="9154391" y="713203"/>
                    <a:pt x="9154391" y="837846"/>
                    <a:pt x="9154391" y="939117"/>
                  </a:cubicBezTo>
                  <a:lnTo>
                    <a:pt x="9154391" y="1006481"/>
                  </a:lnTo>
                  <a:lnTo>
                    <a:pt x="0" y="1006481"/>
                  </a:lnTo>
                  <a:lnTo>
                    <a:pt x="0" y="923127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 bwMode="auto">
          <a:xfrm>
            <a:off x="6154420" y="4826000"/>
            <a:ext cx="2773680" cy="2755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latin typeface="+mj-ea"/>
                <a:ea typeface="+mj-ea"/>
                <a:cs typeface="微软雅黑" panose="020B0503020204020204" pitchFamily="34" charset="-122"/>
                <a:sym typeface="+mn-ea"/>
              </a:rPr>
              <a:t>北京信息科技大学信息与通信工程学院</a:t>
            </a:r>
            <a:endParaRPr kumimoji="0" lang="zh-CN" altLang="en-US" sz="1200" i="0" u="none" strike="noStrike" kern="1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074">
        <p159:morph option="byObject"/>
      </p:transition>
    </mc:Choice>
    <mc:Fallback>
      <p:transition spd="slow" advTm="5074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ISLIDE.GUIDESSETTING" val="{&quot;Id&quot;:&quot;GuidesStyle_Narrow&quot;,&quot;Name&quot;:&quot;较窄&quot;,&quot;Kind&quot;:&quot;System&quot;,&quot;OldGuidesSetting&quot;:{&quot;HeaderHeight&quot;:10.0,&quot;FooterHeight&quot;:5.0,&quot;SideMargin&quot;:2.5,&quot;TopMargin&quot;:0.0,&quot;BottomMargin&quot;:0.0,&quot;IntervalMargin&quot;:1.0}}"/>
  <p:tag name="KSO_WPP_MARK_KEY" val="ca8dd617-31d4-4a5f-82d0-bd10a436df35"/>
  <p:tag name="COMMONDATA" val="eyJjb3VudCI6ODUsImhkaWQiOiIyZmIwZDdhNzE1ZjZmZjc5MjA5YWU0MjE1N2JiNWExMCIsInVzZXJDb3VudCI6ODN9"/>
</p:tagLst>
</file>

<file path=ppt/theme/theme1.xml><?xml version="1.0" encoding="utf-8"?>
<a:theme xmlns:a="http://schemas.openxmlformats.org/drawingml/2006/main" name="Office 主题">
  <a:themeElements>
    <a:clrScheme name="自定义 260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485275"/>
      </a:accent1>
      <a:accent2>
        <a:srgbClr val="89B8CA"/>
      </a:accent2>
      <a:accent3>
        <a:srgbClr val="50668B"/>
      </a:accent3>
      <a:accent4>
        <a:srgbClr val="E0BFC8"/>
      </a:accent4>
      <a:accent5>
        <a:srgbClr val="C9D2E1"/>
      </a:accent5>
      <a:accent6>
        <a:srgbClr val="70AD47"/>
      </a:accent6>
      <a:hlink>
        <a:srgbClr val="000000"/>
      </a:hlink>
      <a:folHlink>
        <a:srgbClr val="954F72"/>
      </a:folHlink>
    </a:clrScheme>
    <a:fontScheme name="3汉仪雅酷黑 65W">
      <a:majorFont>
        <a:latin typeface="微软雅黑"/>
        <a:ea typeface="汉仪雅酷黑 65W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蓝色学术风开题答辩</Template>
  <TotalTime>0</TotalTime>
  <Words>2859</Words>
  <Application>WPS 演示</Application>
  <PresentationFormat>全屏显示(16:9)</PresentationFormat>
  <Paragraphs>382</Paragraphs>
  <Slides>35</Slides>
  <Notes>0</Notes>
  <HiddenSlides>1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24</vt:i4>
      </vt:variant>
      <vt:variant>
        <vt:lpstr>幻灯片标题</vt:lpstr>
      </vt:variant>
      <vt:variant>
        <vt:i4>35</vt:i4>
      </vt:variant>
    </vt:vector>
  </HeadingPairs>
  <TitlesOfParts>
    <vt:vector size="69" baseType="lpstr">
      <vt:lpstr>Arial</vt:lpstr>
      <vt:lpstr>宋体</vt:lpstr>
      <vt:lpstr>Wingdings</vt:lpstr>
      <vt:lpstr>微软雅黑</vt:lpstr>
      <vt:lpstr>黑体</vt:lpstr>
      <vt:lpstr>Calibri Light</vt:lpstr>
      <vt:lpstr>方正宋刻本秀楷简体</vt:lpstr>
      <vt:lpstr>汉仪雅酷黑 65W</vt:lpstr>
      <vt:lpstr>Arial Unicode MS</vt:lpstr>
      <vt:lpstr>Office 主题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哒哒 熊猫</dc:creator>
  <cp:lastModifiedBy>䨹</cp:lastModifiedBy>
  <cp:revision>93</cp:revision>
  <dcterms:created xsi:type="dcterms:W3CDTF">2021-10-25T11:46:00Z</dcterms:created>
  <dcterms:modified xsi:type="dcterms:W3CDTF">2023-05-30T12:12:16Z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KSOTemplateUUID">
    <vt:lpwstr>v1.0_mb_xEDblVAE+h2UDsnt4Tvg2w==</vt:lpwstr>
  </property>
  <property fmtid="{D5CDD505-2E9C-101B-9397-08002B2CF9AE}" pid="4" name="ICV">
    <vt:lpwstr>01F6F3F12DDD4E198BB2E7C364C25726_13</vt:lpwstr>
  </property>
</Properties>
</file>